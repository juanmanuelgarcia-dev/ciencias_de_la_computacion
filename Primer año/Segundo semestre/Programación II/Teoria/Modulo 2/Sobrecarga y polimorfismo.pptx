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72" r:id="rId4"/>
    <p:sldId id="274" r:id="rId5"/>
    <p:sldId id="273" r:id="rId6"/>
    <p:sldId id="271" r:id="rId7"/>
    <p:sldId id="275" r:id="rId8"/>
    <p:sldId id="276" r:id="rId9"/>
    <p:sldId id="280" r:id="rId10"/>
    <p:sldId id="279" r:id="rId11"/>
    <p:sldId id="278" r:id="rId12"/>
    <p:sldId id="277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Proxima Nova" panose="020B0604020202020204" charset="0"/>
      <p:regular r:id="rId19"/>
      <p:bold r:id="rId20"/>
      <p:italic r:id="rId21"/>
      <p:boldItalic r:id="rId22"/>
    </p:embeddedFont>
    <p:embeddedFont>
      <p:font typeface="Roboto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4400" dirty="0">
                <a:latin typeface="Calibri"/>
                <a:ea typeface="Calibri"/>
                <a:cs typeface="Calibri"/>
                <a:sym typeface="Calibri"/>
              </a:rPr>
              <a:t>Sobrecarga y Polimorfismo</a:t>
            </a:r>
            <a:endParaRPr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100" y="2715925"/>
            <a:ext cx="83877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s" sz="2400" dirty="0">
                <a:latin typeface="Proxima Nova"/>
                <a:ea typeface="Proxima Nova"/>
                <a:cs typeface="Proxima Nova"/>
                <a:sym typeface="Proxima Nova"/>
              </a:rPr>
              <a:t>Conceptos Clave.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s" sz="2400" dirty="0">
                <a:latin typeface="Proxima Nova"/>
                <a:sym typeface="Proxima Nova"/>
              </a:rPr>
              <a:t>Ventajas  - Desventajas.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s" sz="2400" dirty="0">
                <a:latin typeface="Proxima Nova"/>
                <a:sym typeface="Proxima Nova"/>
              </a:rPr>
              <a:t>Ejemplos.</a:t>
            </a:r>
            <a:endParaRPr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0" y="4625540"/>
            <a:ext cx="91440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s" sz="2400" dirty="0">
                <a:latin typeface="Proxima Nova"/>
                <a:ea typeface="Proxima Nova"/>
                <a:cs typeface="Proxima Nova"/>
                <a:sym typeface="Proxima Nova"/>
              </a:rPr>
              <a:t>Programación II				Prof: Ing. Daniel Fontana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23BBE-7F59-41EC-84BA-2764A163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Sobrecarga de métodos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101186-E64F-40F1-8E31-CA87DA20C2E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MX" dirty="0"/>
              <a:t>Mecanismo de la POO que permite definir </a:t>
            </a:r>
            <a:r>
              <a:rPr lang="es-MX" b="1" dirty="0"/>
              <a:t>varios métodos </a:t>
            </a:r>
            <a:r>
              <a:rPr lang="es-MX" dirty="0"/>
              <a:t>con el </a:t>
            </a:r>
            <a:r>
              <a:rPr lang="es-MX" b="1" dirty="0"/>
              <a:t>mismo nombre </a:t>
            </a:r>
            <a:r>
              <a:rPr lang="es-MX" dirty="0"/>
              <a:t>dentro de una misma clase, siempre que se diferencien en la cantidad, tipo o el orden de los parámetros.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0719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23582-BD37-4E5F-B54E-02F5BB29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Ventajas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A4768D-4488-46AC-9B1D-3E57CE48D9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80002" y="0"/>
            <a:ext cx="4463998" cy="5143500"/>
          </a:xfrm>
        </p:spPr>
        <p:txBody>
          <a:bodyPr/>
          <a:lstStyle/>
          <a:p>
            <a:r>
              <a:rPr lang="es-MX" dirty="0"/>
              <a:t>Mejora la legibilidad del código</a:t>
            </a:r>
          </a:p>
          <a:p>
            <a:pPr lvl="1"/>
            <a:r>
              <a:rPr lang="es-MX" dirty="0"/>
              <a:t>Se puede usar el mismo nombre de método para operaciones similares en lugar de inventar nombres distintos (</a:t>
            </a:r>
            <a:r>
              <a:rPr lang="es-MX" dirty="0" err="1"/>
              <a:t>SumarEnteros</a:t>
            </a:r>
            <a:r>
              <a:rPr lang="es-MX" dirty="0"/>
              <a:t>, </a:t>
            </a:r>
            <a:r>
              <a:rPr lang="es-MX" dirty="0" err="1"/>
              <a:t>SumarDecimales</a:t>
            </a:r>
            <a:r>
              <a:rPr lang="es-MX" dirty="0"/>
              <a:t>)</a:t>
            </a:r>
          </a:p>
          <a:p>
            <a:r>
              <a:rPr lang="es-AR" dirty="0"/>
              <a:t>Facilita la reutilización</a:t>
            </a:r>
          </a:p>
          <a:p>
            <a:pPr lvl="1"/>
            <a:r>
              <a:rPr lang="es-MX" dirty="0"/>
              <a:t>Se evita la redundancia en nombres de métodos</a:t>
            </a:r>
          </a:p>
          <a:p>
            <a:pPr lvl="1"/>
            <a:r>
              <a:rPr lang="es-MX" dirty="0"/>
              <a:t>Se evita duplicar la lógica ni cambiar de nombre.</a:t>
            </a:r>
          </a:p>
          <a:p>
            <a:r>
              <a:rPr lang="es-AR" dirty="0"/>
              <a:t>Organización y consistencia</a:t>
            </a:r>
          </a:p>
          <a:p>
            <a:pPr lvl="1"/>
            <a:r>
              <a:rPr lang="es-MX" dirty="0"/>
              <a:t>Los métodos sobrecargados quedan agrupados bajo un mismo concepto</a:t>
            </a:r>
            <a:endParaRPr lang="es-AR" dirty="0"/>
          </a:p>
        </p:txBody>
      </p:sp>
      <p:sp>
        <p:nvSpPr>
          <p:cNvPr id="5" name="Google Shape;144;p16">
            <a:extLst>
              <a:ext uri="{FF2B5EF4-FFF2-40B4-BE49-F238E27FC236}">
                <a16:creationId xmlns:a16="http://schemas.microsoft.com/office/drawing/2014/main" id="{5FA8C5E1-BC3E-453A-87A5-DF7E148AFD1C}"/>
              </a:ext>
            </a:extLst>
          </p:cNvPr>
          <p:cNvSpPr txBox="1">
            <a:spLocks/>
          </p:cNvSpPr>
          <p:nvPr/>
        </p:nvSpPr>
        <p:spPr>
          <a:xfrm>
            <a:off x="265500" y="160150"/>
            <a:ext cx="41985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4285F4"/>
              </a:buClr>
              <a:buSzPts val="4400"/>
              <a:buFont typeface="Calibri"/>
              <a:buNone/>
            </a:pPr>
            <a:r>
              <a:rPr lang="es-AR" sz="2400" dirty="0"/>
              <a:t>Sobrecarga de métodos</a:t>
            </a:r>
          </a:p>
        </p:txBody>
      </p:sp>
    </p:spTree>
    <p:extLst>
      <p:ext uri="{BB962C8B-B14F-4D97-AF65-F5344CB8AC3E}">
        <p14:creationId xmlns:p14="http://schemas.microsoft.com/office/powerpoint/2010/main" val="500995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1C6A9-DF3C-48DD-B26E-EA87864E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Desventajas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7CDBE5-4499-4BF8-8521-F6DD0EC621F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MX" dirty="0"/>
              <a:t>No se puede diferenciar solo por tipo de retorno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AR" dirty="0"/>
              <a:t>Ambigüedad en las llamadas</a:t>
            </a:r>
          </a:p>
          <a:p>
            <a:pPr lvl="1"/>
            <a:endParaRPr lang="es-MX" dirty="0"/>
          </a:p>
          <a:p>
            <a:pPr lvl="1"/>
            <a:endParaRPr lang="es-MX" dirty="0"/>
          </a:p>
          <a:p>
            <a:r>
              <a:rPr lang="es-MX" dirty="0"/>
              <a:t>Mantenimiento más complejo en proyectos grandes</a:t>
            </a:r>
            <a:endParaRPr lang="es-AR" dirty="0"/>
          </a:p>
        </p:txBody>
      </p:sp>
      <p:sp>
        <p:nvSpPr>
          <p:cNvPr id="5" name="Google Shape;144;p16">
            <a:extLst>
              <a:ext uri="{FF2B5EF4-FFF2-40B4-BE49-F238E27FC236}">
                <a16:creationId xmlns:a16="http://schemas.microsoft.com/office/drawing/2014/main" id="{E6C29F65-F5D2-44DB-9A24-D6875B7C0E90}"/>
              </a:ext>
            </a:extLst>
          </p:cNvPr>
          <p:cNvSpPr txBox="1">
            <a:spLocks/>
          </p:cNvSpPr>
          <p:nvPr/>
        </p:nvSpPr>
        <p:spPr>
          <a:xfrm>
            <a:off x="265500" y="160150"/>
            <a:ext cx="41985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4285F4"/>
              </a:buClr>
              <a:buSzPts val="4400"/>
              <a:buFont typeface="Calibri"/>
              <a:buNone/>
            </a:pPr>
            <a:r>
              <a:rPr lang="es-AR" sz="2400" dirty="0"/>
              <a:t>Sobrecarga de métodos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AFA9B26-6A4C-401A-8B05-0A234C3D7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943451"/>
            <a:ext cx="2209800" cy="5619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19A620A-B425-420E-A411-71DF5F940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500" y="1666650"/>
            <a:ext cx="4045201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6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9C24A133-25FA-452C-AD70-9412C9B7E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95014" cy="5143500"/>
          </a:xfrm>
          <a:prstGeom prst="rect">
            <a:avLst/>
          </a:prstGeom>
        </p:spPr>
      </p:pic>
      <p:sp>
        <p:nvSpPr>
          <p:cNvPr id="13" name="Google Shape;150;p16">
            <a:extLst>
              <a:ext uri="{FF2B5EF4-FFF2-40B4-BE49-F238E27FC236}">
                <a16:creationId xmlns:a16="http://schemas.microsoft.com/office/drawing/2014/main" id="{7115F559-C45E-4FA2-B0B3-86077F2764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5014" y="312550"/>
            <a:ext cx="3848985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4400"/>
              <a:buFont typeface="Calibri"/>
              <a:buNone/>
            </a:pPr>
            <a:r>
              <a:rPr lang="es" sz="2400" dirty="0">
                <a:solidFill>
                  <a:schemeClr val="lt1"/>
                </a:solidFill>
              </a:rPr>
              <a:t>Algunos ejemplos…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16" name="Google Shape;218;p18">
            <a:extLst>
              <a:ext uri="{FF2B5EF4-FFF2-40B4-BE49-F238E27FC236}">
                <a16:creationId xmlns:a16="http://schemas.microsoft.com/office/drawing/2014/main" id="{176EF353-0070-408B-9D84-EBEBD31ED6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95014" y="724200"/>
            <a:ext cx="3848985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61950">
              <a:spcBef>
                <a:spcPts val="640"/>
              </a:spcBef>
              <a:buSzPts val="2100"/>
              <a:buFont typeface="Calibri"/>
              <a:buChar char="●"/>
            </a:pPr>
            <a:r>
              <a:rPr lang="es-MX" sz="1800" dirty="0"/>
              <a:t>Sobrecarga simple con distintos parámetros</a:t>
            </a:r>
            <a:endParaRPr lang="es-AR" sz="1800" dirty="0"/>
          </a:p>
          <a:p>
            <a:pPr marL="342900" lvl="0" indent="-361950" algn="l" rtl="0">
              <a:spcBef>
                <a:spcPts val="640"/>
              </a:spcBef>
              <a:spcAft>
                <a:spcPts val="0"/>
              </a:spcAft>
              <a:buSzPts val="2100"/>
              <a:buFont typeface="Calibri"/>
              <a:buChar char="●"/>
            </a:pP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22568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0;p16">
            <a:extLst>
              <a:ext uri="{FF2B5EF4-FFF2-40B4-BE49-F238E27FC236}">
                <a16:creationId xmlns:a16="http://schemas.microsoft.com/office/drawing/2014/main" id="{B7489DD7-88C9-4F6E-97CB-45435DBB32A4}"/>
              </a:ext>
            </a:extLst>
          </p:cNvPr>
          <p:cNvSpPr txBox="1">
            <a:spLocks/>
          </p:cNvSpPr>
          <p:nvPr/>
        </p:nvSpPr>
        <p:spPr>
          <a:xfrm>
            <a:off x="4922007" y="312550"/>
            <a:ext cx="3973918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4285F4"/>
              </a:buClr>
              <a:buSzPts val="4400"/>
              <a:buFont typeface="Calibri"/>
              <a:buNone/>
            </a:pPr>
            <a:r>
              <a:rPr lang="es-AR" sz="2400" dirty="0">
                <a:solidFill>
                  <a:schemeClr val="lt1"/>
                </a:solidFill>
              </a:rPr>
              <a:t>Algunos ejemplos…</a:t>
            </a:r>
          </a:p>
        </p:txBody>
      </p:sp>
      <p:sp>
        <p:nvSpPr>
          <p:cNvPr id="6" name="Google Shape;218;p18">
            <a:extLst>
              <a:ext uri="{FF2B5EF4-FFF2-40B4-BE49-F238E27FC236}">
                <a16:creationId xmlns:a16="http://schemas.microsoft.com/office/drawing/2014/main" id="{DE04B0DC-5107-4E70-BA5B-773D364ACDE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071730" y="724200"/>
            <a:ext cx="3704769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61950">
              <a:spcBef>
                <a:spcPts val="640"/>
              </a:spcBef>
              <a:buSzPts val="2100"/>
              <a:buFont typeface="Calibri"/>
              <a:buChar char="●"/>
            </a:pPr>
            <a:r>
              <a:rPr lang="es-AR" dirty="0"/>
              <a:t>Sobrecarga en constructores</a:t>
            </a:r>
            <a:endParaRPr sz="21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BCA3148-5F49-4E18-AD2F-4D12286F4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38" y="0"/>
            <a:ext cx="39739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9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F0F26E-FEAC-40D8-8325-D34467C14AA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MX" dirty="0"/>
              <a:t>Sobrecarga con distinto orden de parámetros</a:t>
            </a:r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F927DB-A2F4-480F-95D6-F42DD95D6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0587"/>
            <a:ext cx="4572000" cy="3362325"/>
          </a:xfrm>
          <a:prstGeom prst="rect">
            <a:avLst/>
          </a:prstGeom>
        </p:spPr>
      </p:pic>
      <p:sp>
        <p:nvSpPr>
          <p:cNvPr id="9" name="Google Shape;150;p16">
            <a:extLst>
              <a:ext uri="{FF2B5EF4-FFF2-40B4-BE49-F238E27FC236}">
                <a16:creationId xmlns:a16="http://schemas.microsoft.com/office/drawing/2014/main" id="{F28F822E-6ED0-44B2-8C2C-42E5EC1BF041}"/>
              </a:ext>
            </a:extLst>
          </p:cNvPr>
          <p:cNvSpPr txBox="1">
            <a:spLocks/>
          </p:cNvSpPr>
          <p:nvPr/>
        </p:nvSpPr>
        <p:spPr>
          <a:xfrm>
            <a:off x="4922007" y="312550"/>
            <a:ext cx="3973918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4285F4"/>
              </a:buClr>
              <a:buSzPts val="4400"/>
              <a:buFont typeface="Calibri"/>
              <a:buNone/>
            </a:pPr>
            <a:r>
              <a:rPr lang="es-AR" sz="2400" dirty="0">
                <a:solidFill>
                  <a:schemeClr val="lt1"/>
                </a:solidFill>
              </a:rPr>
              <a:t>Algunos ejemplos…</a:t>
            </a:r>
          </a:p>
        </p:txBody>
      </p:sp>
    </p:spTree>
    <p:extLst>
      <p:ext uri="{BB962C8B-B14F-4D97-AF65-F5344CB8AC3E}">
        <p14:creationId xmlns:p14="http://schemas.microsoft.com/office/powerpoint/2010/main" val="325696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B756D-3FCE-4B4C-A41C-03B56D12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Polimorfismo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2D779B-044A-470F-B593-99732E4889A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MX" dirty="0"/>
              <a:t>Permite que un </a:t>
            </a:r>
            <a:r>
              <a:rPr lang="es-MX" b="1" dirty="0"/>
              <a:t>mismo método o comportamiento tenga diferentes implementaciones</a:t>
            </a:r>
            <a:r>
              <a:rPr lang="es-MX" dirty="0"/>
              <a:t>, dependiendo del </a:t>
            </a:r>
            <a:r>
              <a:rPr lang="es-MX" b="1" dirty="0"/>
              <a:t>objeto</a:t>
            </a:r>
            <a:r>
              <a:rPr lang="es-MX" dirty="0"/>
              <a:t> que lo utilice</a:t>
            </a:r>
          </a:p>
          <a:p>
            <a:endParaRPr lang="es-MX" dirty="0"/>
          </a:p>
          <a:p>
            <a:r>
              <a:rPr lang="es-MX" dirty="0"/>
              <a:t>Se logra mediante </a:t>
            </a:r>
          </a:p>
          <a:p>
            <a:pPr lvl="1"/>
            <a:r>
              <a:rPr lang="es-AR" b="1" dirty="0"/>
              <a:t>sobrecarga de métodos (estático)</a:t>
            </a:r>
          </a:p>
          <a:p>
            <a:pPr lvl="1"/>
            <a:r>
              <a:rPr lang="es-MX" b="1" dirty="0"/>
              <a:t>herencia y </a:t>
            </a:r>
            <a:r>
              <a:rPr lang="es-MX" b="1" dirty="0" err="1"/>
              <a:t>sobrescritura</a:t>
            </a:r>
            <a:r>
              <a:rPr lang="es-MX" b="1" dirty="0"/>
              <a:t> de métodos (</a:t>
            </a:r>
            <a:r>
              <a:rPr lang="es-MX" b="1" dirty="0" err="1"/>
              <a:t>dinamico</a:t>
            </a:r>
            <a:r>
              <a:rPr lang="es-MX" b="1" dirty="0"/>
              <a:t> - @override)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24399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6F6358-3BC8-4329-AE73-E6A5496EE38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AR" dirty="0"/>
              <a:t>Reutilización de código</a:t>
            </a:r>
          </a:p>
          <a:p>
            <a:pPr lvl="1"/>
            <a:r>
              <a:rPr lang="es-MX" dirty="0"/>
              <a:t>Permite programar usando clases padres o interfaces, y dejar que las subclases definan su comportamiento específico</a:t>
            </a:r>
          </a:p>
          <a:p>
            <a:pPr lvl="1"/>
            <a:endParaRPr lang="es-AR" dirty="0"/>
          </a:p>
          <a:p>
            <a:r>
              <a:rPr lang="es-AR" dirty="0"/>
              <a:t>Flexibilidad y legibilidad</a:t>
            </a:r>
          </a:p>
          <a:p>
            <a:pPr lvl="1"/>
            <a:r>
              <a:rPr lang="es-MX" dirty="0"/>
              <a:t>Es fácil añadir nuevas clases sin modificar el código existente.</a:t>
            </a:r>
          </a:p>
          <a:p>
            <a:pPr lvl="1"/>
            <a:r>
              <a:rPr lang="es-MX" dirty="0"/>
              <a:t>Se pueden invocar los mismos métodos en diferentes tipos de objetos</a:t>
            </a:r>
            <a:endParaRPr lang="es-A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F048A00-3DE0-49C8-AF25-0DDF9D2E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</p:spPr>
        <p:txBody>
          <a:bodyPr/>
          <a:lstStyle/>
          <a:p>
            <a:r>
              <a:rPr lang="es-AR" dirty="0"/>
              <a:t>Ventajas</a:t>
            </a:r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E86A7049-0254-430C-9A85-03D3DBCE8166}"/>
              </a:ext>
            </a:extLst>
          </p:cNvPr>
          <p:cNvSpPr txBox="1">
            <a:spLocks/>
          </p:cNvSpPr>
          <p:nvPr/>
        </p:nvSpPr>
        <p:spPr>
          <a:xfrm>
            <a:off x="265500" y="160150"/>
            <a:ext cx="41985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4285F4"/>
              </a:buClr>
              <a:buSzPts val="4400"/>
              <a:buFont typeface="Calibri"/>
              <a:buNone/>
            </a:pPr>
            <a:r>
              <a:rPr lang="es-AR" sz="2400" dirty="0"/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459173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E5AC23-465E-4CA9-AF03-54E3588BA3D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MX" dirty="0"/>
              <a:t>Mayor complejidad en el diseño</a:t>
            </a:r>
          </a:p>
          <a:p>
            <a:pPr lvl="1"/>
            <a:r>
              <a:rPr lang="es-MX" dirty="0"/>
              <a:t>Requiere planificar jerarquías de clases o interfaces adecuadas.</a:t>
            </a:r>
          </a:p>
          <a:p>
            <a:pPr lvl="1"/>
            <a:endParaRPr lang="es-MX" dirty="0"/>
          </a:p>
          <a:p>
            <a:r>
              <a:rPr lang="es-AR" dirty="0"/>
              <a:t>Puede dificultar la depuración</a:t>
            </a:r>
          </a:p>
          <a:p>
            <a:pPr lvl="1"/>
            <a:r>
              <a:rPr lang="es-MX" dirty="0"/>
              <a:t>En ocasiones no queda claro qué implementación se está ejecutando si hay muchas clases involucradas</a:t>
            </a:r>
            <a:endParaRPr lang="es-A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E636685-7133-4BC4-8ED4-7633AB52E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</p:spPr>
        <p:txBody>
          <a:bodyPr/>
          <a:lstStyle/>
          <a:p>
            <a:r>
              <a:rPr lang="es-AR" dirty="0"/>
              <a:t>Desventajas</a:t>
            </a:r>
          </a:p>
        </p:txBody>
      </p:sp>
      <p:sp>
        <p:nvSpPr>
          <p:cNvPr id="8" name="Google Shape;144;p16">
            <a:extLst>
              <a:ext uri="{FF2B5EF4-FFF2-40B4-BE49-F238E27FC236}">
                <a16:creationId xmlns:a16="http://schemas.microsoft.com/office/drawing/2014/main" id="{410A99D6-A762-4C70-8AE4-E24CA973DE43}"/>
              </a:ext>
            </a:extLst>
          </p:cNvPr>
          <p:cNvSpPr txBox="1">
            <a:spLocks/>
          </p:cNvSpPr>
          <p:nvPr/>
        </p:nvSpPr>
        <p:spPr>
          <a:xfrm>
            <a:off x="265500" y="160150"/>
            <a:ext cx="41985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4285F4"/>
              </a:buClr>
              <a:buSzPts val="4400"/>
              <a:buFont typeface="Calibri"/>
              <a:buNone/>
            </a:pPr>
            <a:r>
              <a:rPr lang="es-AR" sz="2400" dirty="0"/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3143043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0;p16">
            <a:extLst>
              <a:ext uri="{FF2B5EF4-FFF2-40B4-BE49-F238E27FC236}">
                <a16:creationId xmlns:a16="http://schemas.microsoft.com/office/drawing/2014/main" id="{8FEA56B6-AE62-49F2-95FB-65F60A8230E9}"/>
              </a:ext>
            </a:extLst>
          </p:cNvPr>
          <p:cNvSpPr txBox="1">
            <a:spLocks/>
          </p:cNvSpPr>
          <p:nvPr/>
        </p:nvSpPr>
        <p:spPr>
          <a:xfrm>
            <a:off x="4922007" y="312550"/>
            <a:ext cx="3973918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4285F4"/>
              </a:buClr>
              <a:buSzPts val="4400"/>
              <a:buFont typeface="Calibri"/>
              <a:buNone/>
            </a:pPr>
            <a:r>
              <a:rPr lang="es-AR" sz="2400" dirty="0">
                <a:solidFill>
                  <a:schemeClr val="lt1"/>
                </a:solidFill>
              </a:rPr>
              <a:t>Algunos ejemplos…</a:t>
            </a:r>
          </a:p>
        </p:txBody>
      </p:sp>
      <p:sp>
        <p:nvSpPr>
          <p:cNvPr id="6" name="Google Shape;218;p18">
            <a:extLst>
              <a:ext uri="{FF2B5EF4-FFF2-40B4-BE49-F238E27FC236}">
                <a16:creationId xmlns:a16="http://schemas.microsoft.com/office/drawing/2014/main" id="{E48B3504-8D93-4F49-AE2C-B1D03648F7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071730" y="724200"/>
            <a:ext cx="3704769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61950">
              <a:spcBef>
                <a:spcPts val="640"/>
              </a:spcBef>
              <a:buSzPts val="2100"/>
              <a:buFont typeface="Calibri"/>
              <a:buChar char="●"/>
            </a:pPr>
            <a:r>
              <a:rPr lang="es-MX" dirty="0"/>
              <a:t>Polimorfismo dinámico (herencia y </a:t>
            </a:r>
            <a:r>
              <a:rPr lang="es-MX" dirty="0" err="1"/>
              <a:t>sobrescritura</a:t>
            </a:r>
            <a:r>
              <a:rPr lang="es-MX" dirty="0"/>
              <a:t>)</a:t>
            </a:r>
            <a:endParaRPr sz="2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80049B3-59CB-4DBA-B358-74F26AC42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32" y="0"/>
            <a:ext cx="40260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14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0;p16">
            <a:extLst>
              <a:ext uri="{FF2B5EF4-FFF2-40B4-BE49-F238E27FC236}">
                <a16:creationId xmlns:a16="http://schemas.microsoft.com/office/drawing/2014/main" id="{231D0B62-4534-475B-9AD1-6555D44866C8}"/>
              </a:ext>
            </a:extLst>
          </p:cNvPr>
          <p:cNvSpPr txBox="1">
            <a:spLocks/>
          </p:cNvSpPr>
          <p:nvPr/>
        </p:nvSpPr>
        <p:spPr>
          <a:xfrm>
            <a:off x="4922007" y="312550"/>
            <a:ext cx="3973918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4285F4"/>
              </a:buClr>
              <a:buSzPts val="4400"/>
              <a:buFont typeface="Calibri"/>
              <a:buNone/>
            </a:pPr>
            <a:r>
              <a:rPr lang="es-AR" sz="2400" dirty="0">
                <a:solidFill>
                  <a:schemeClr val="lt1"/>
                </a:solidFill>
              </a:rPr>
              <a:t>Algunos ejemplos…</a:t>
            </a:r>
          </a:p>
        </p:txBody>
      </p:sp>
      <p:sp>
        <p:nvSpPr>
          <p:cNvPr id="6" name="Google Shape;218;p18">
            <a:extLst>
              <a:ext uri="{FF2B5EF4-FFF2-40B4-BE49-F238E27FC236}">
                <a16:creationId xmlns:a16="http://schemas.microsoft.com/office/drawing/2014/main" id="{96EEDCD3-A274-4708-B5F4-8915A09F6BA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071730" y="724200"/>
            <a:ext cx="3704769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61950">
              <a:spcBef>
                <a:spcPts val="640"/>
              </a:spcBef>
              <a:buSzPts val="2100"/>
              <a:buFont typeface="Calibri"/>
              <a:buChar char="●"/>
            </a:pPr>
            <a:r>
              <a:rPr lang="es-AR" dirty="0"/>
              <a:t>Polimorfismo con interfaces</a:t>
            </a:r>
            <a:endParaRPr sz="2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596F80D-976D-45FA-8527-ECFAEA4B1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01" y="0"/>
            <a:ext cx="361363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66497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308</Words>
  <Application>Microsoft Office PowerPoint</Application>
  <PresentationFormat>Presentación en pantalla (16:9)</PresentationFormat>
  <Paragraphs>57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Roboto</vt:lpstr>
      <vt:lpstr>Proxima Nova</vt:lpstr>
      <vt:lpstr>Calibri</vt:lpstr>
      <vt:lpstr>Arial</vt:lpstr>
      <vt:lpstr>Geometric</vt:lpstr>
      <vt:lpstr>Sobrecarga y Polimorfismo</vt:lpstr>
      <vt:lpstr>Sobrecarga de métodos</vt:lpstr>
      <vt:lpstr>Ventajas</vt:lpstr>
      <vt:lpstr>Desventajas</vt:lpstr>
      <vt:lpstr>Algunos ejemplos…</vt:lpstr>
      <vt:lpstr>Presentación de PowerPoint</vt:lpstr>
      <vt:lpstr>Presentación de PowerPoint</vt:lpstr>
      <vt:lpstr>Polimorfismo</vt:lpstr>
      <vt:lpstr>Ventajas</vt:lpstr>
      <vt:lpstr>Desventajas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de Clases en UML</dc:title>
  <cp:lastModifiedBy>Daniel Fontana</cp:lastModifiedBy>
  <cp:revision>5</cp:revision>
  <dcterms:modified xsi:type="dcterms:W3CDTF">2025-08-29T01:57:40Z</dcterms:modified>
</cp:coreProperties>
</file>