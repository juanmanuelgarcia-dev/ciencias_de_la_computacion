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69" r:id="rId5"/>
    <p:sldId id="259" r:id="rId6"/>
    <p:sldId id="270" r:id="rId7"/>
    <p:sldId id="260" r:id="rId8"/>
    <p:sldId id="271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Proxima Nova" panose="020B0604020202020204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Roboto Mono" panose="00000009000000000000" pitchFamily="49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e470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e470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02ade69cf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202ade69cf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02ade69cf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202ade69cf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0739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202ade69cf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202ade69cf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202ade69cf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202ade69cf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4412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202ade69cf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202ade69cf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202ade69cf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202ade69cf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05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c6f9e470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c6f9e470d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202ade69c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202ade69c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202ade69cf_1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202ade69cf_1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202ade69cf_1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202ade69cf_1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202ade69cf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202ade69cf_1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202ade69cf_1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202ade69cf_1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202ade69cf_1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202ade69cf_1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202ade69cf_1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202ade69cf_1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4400">
                <a:latin typeface="Calibri"/>
                <a:ea typeface="Calibri"/>
                <a:cs typeface="Calibri"/>
                <a:sym typeface="Calibri"/>
              </a:rPr>
              <a:t>Diagramas de Clases en UML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100" y="2715925"/>
            <a:ext cx="83877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s" sz="2400">
                <a:latin typeface="Proxima Nova"/>
                <a:ea typeface="Proxima Nova"/>
                <a:cs typeface="Proxima Nova"/>
                <a:sym typeface="Proxima Nova"/>
              </a:rPr>
              <a:t>Elementos y Conceptos Clave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0" y="4625540"/>
            <a:ext cx="91440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s" sz="2400" dirty="0">
                <a:latin typeface="Proxima Nova"/>
                <a:ea typeface="Proxima Nova"/>
                <a:cs typeface="Proxima Nova"/>
                <a:sym typeface="Proxima Nova"/>
              </a:rPr>
              <a:t>Programación II				Prof: Ing. Daniel Fontana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265500" y="160150"/>
            <a:ext cx="41985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/>
              <a:t>Diagramas de Clases en UML</a:t>
            </a:r>
            <a:endParaRPr sz="2400"/>
          </a:p>
        </p:txBody>
      </p:sp>
      <p:sp>
        <p:nvSpPr>
          <p:cNvPr id="93" name="Google Shape;93;p14"/>
          <p:cNvSpPr/>
          <p:nvPr/>
        </p:nvSpPr>
        <p:spPr>
          <a:xfrm>
            <a:off x="4811100" y="1347725"/>
            <a:ext cx="1759800" cy="25947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" name="Google Shape;94;p14"/>
          <p:cNvCxnSpPr/>
          <p:nvPr/>
        </p:nvCxnSpPr>
        <p:spPr>
          <a:xfrm rot="10800000" flipH="1">
            <a:off x="6570900" y="1897375"/>
            <a:ext cx="1741200" cy="564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" name="Google Shape;95;p14"/>
          <p:cNvCxnSpPr/>
          <p:nvPr/>
        </p:nvCxnSpPr>
        <p:spPr>
          <a:xfrm>
            <a:off x="6570900" y="2769000"/>
            <a:ext cx="1741200" cy="564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" name="Google Shape;96;p14"/>
          <p:cNvSpPr/>
          <p:nvPr/>
        </p:nvSpPr>
        <p:spPr>
          <a:xfrm>
            <a:off x="8294100" y="3199650"/>
            <a:ext cx="344225" cy="265550"/>
          </a:xfrm>
          <a:prstGeom prst="flowChartDecision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4"/>
          <p:cNvSpPr/>
          <p:nvPr/>
        </p:nvSpPr>
        <p:spPr>
          <a:xfrm rot="5400000">
            <a:off x="8320800" y="1766250"/>
            <a:ext cx="248100" cy="2655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4"/>
          <p:cNvCxnSpPr/>
          <p:nvPr/>
        </p:nvCxnSpPr>
        <p:spPr>
          <a:xfrm rot="10800000" flipH="1">
            <a:off x="4815000" y="1894050"/>
            <a:ext cx="1752000" cy="99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99;p14"/>
          <p:cNvCxnSpPr/>
          <p:nvPr/>
        </p:nvCxnSpPr>
        <p:spPr>
          <a:xfrm rot="10800000" flipH="1">
            <a:off x="4815000" y="3199650"/>
            <a:ext cx="1752000" cy="99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100;p14"/>
          <p:cNvSpPr txBox="1"/>
          <p:nvPr/>
        </p:nvSpPr>
        <p:spPr>
          <a:xfrm>
            <a:off x="4815000" y="1413000"/>
            <a:ext cx="17520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Clases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Atributos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Métodos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611300" y="2380500"/>
            <a:ext cx="140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Relaciones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0" y="1024200"/>
            <a:ext cx="4572000" cy="4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Los diagramas de clases representan la estructura estática de un sistema.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Muestran clases, atributos, métodos y relaciones entre clases.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Son una parte fundamental en el modelado de software.</a:t>
            </a:r>
            <a:endParaRPr sz="2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265500" y="160150"/>
            <a:ext cx="41985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/>
              <a:t>Clases</a:t>
            </a:r>
            <a:endParaRPr sz="2400"/>
          </a:p>
        </p:txBody>
      </p:sp>
      <p:sp>
        <p:nvSpPr>
          <p:cNvPr id="108" name="Google Shape;108;p15"/>
          <p:cNvSpPr/>
          <p:nvPr/>
        </p:nvSpPr>
        <p:spPr>
          <a:xfrm>
            <a:off x="4811144" y="1057139"/>
            <a:ext cx="1189273" cy="1711724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" name="Google Shape;109;p15"/>
          <p:cNvCxnSpPr/>
          <p:nvPr/>
        </p:nvCxnSpPr>
        <p:spPr>
          <a:xfrm rot="10800000" flipH="1">
            <a:off x="4813780" y="1417550"/>
            <a:ext cx="1184002" cy="653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5"/>
          <p:cNvCxnSpPr/>
          <p:nvPr/>
        </p:nvCxnSpPr>
        <p:spPr>
          <a:xfrm rot="10800000" flipH="1">
            <a:off x="4813780" y="2278854"/>
            <a:ext cx="1184002" cy="653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Google Shape;112;p15"/>
          <p:cNvSpPr txBox="1"/>
          <p:nvPr/>
        </p:nvSpPr>
        <p:spPr>
          <a:xfrm>
            <a:off x="34275" y="660250"/>
            <a:ext cx="4572000" cy="4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Plantilla, fórmula o molde para crear objetos del mundo real.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Poseen atributos y métodos.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No pueden utilizarse directamente. Deben ser instanciados por objetos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None/>
            </a:pPr>
            <a:endParaRPr sz="2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236" y="3209550"/>
            <a:ext cx="2183440" cy="15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4697425" y="312550"/>
            <a:ext cx="41985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>
                <a:solidFill>
                  <a:schemeClr val="lt1"/>
                </a:solidFill>
              </a:rPr>
              <a:t>Algunos ejemplos…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265500" y="160150"/>
            <a:ext cx="41985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/>
              <a:t>Clases</a:t>
            </a:r>
            <a:endParaRPr sz="2400"/>
          </a:p>
        </p:txBody>
      </p:sp>
      <p:sp>
        <p:nvSpPr>
          <p:cNvPr id="108" name="Google Shape;108;p15"/>
          <p:cNvSpPr/>
          <p:nvPr/>
        </p:nvSpPr>
        <p:spPr>
          <a:xfrm>
            <a:off x="4811144" y="1057139"/>
            <a:ext cx="1189273" cy="1711724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" name="Google Shape;109;p15"/>
          <p:cNvCxnSpPr/>
          <p:nvPr/>
        </p:nvCxnSpPr>
        <p:spPr>
          <a:xfrm rot="10800000" flipH="1">
            <a:off x="4813780" y="1417550"/>
            <a:ext cx="1184002" cy="653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5"/>
          <p:cNvCxnSpPr/>
          <p:nvPr/>
        </p:nvCxnSpPr>
        <p:spPr>
          <a:xfrm rot="10800000" flipH="1">
            <a:off x="4813780" y="2278854"/>
            <a:ext cx="1184002" cy="653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" name="Google Shape;111;p15"/>
          <p:cNvSpPr txBox="1"/>
          <p:nvPr/>
        </p:nvSpPr>
        <p:spPr>
          <a:xfrm>
            <a:off x="4813775" y="1057126"/>
            <a:ext cx="11841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Animal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34275" y="660250"/>
            <a:ext cx="4572000" cy="4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Plantilla, fórmula o molde para crear objetos del mundo real.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Poseen atributos y métodos.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No pueden utilizarse directamente. Deben ser instanciados por objetos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None/>
            </a:pPr>
            <a:endParaRPr sz="2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236" y="3209550"/>
            <a:ext cx="2183440" cy="15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4697425" y="312550"/>
            <a:ext cx="41985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>
                <a:solidFill>
                  <a:schemeClr val="lt1"/>
                </a:solidFill>
              </a:rPr>
              <a:t>Algunos ejemplos…</a:t>
            </a:r>
            <a:endParaRPr sz="2400">
              <a:solidFill>
                <a:schemeClr val="lt1"/>
              </a:solidFill>
            </a:endParaRPr>
          </a:p>
        </p:txBody>
      </p:sp>
      <p:grpSp>
        <p:nvGrpSpPr>
          <p:cNvPr id="115" name="Google Shape;115;p15"/>
          <p:cNvGrpSpPr/>
          <p:nvPr/>
        </p:nvGrpSpPr>
        <p:grpSpPr>
          <a:xfrm>
            <a:off x="6202044" y="1057172"/>
            <a:ext cx="1189273" cy="1711729"/>
            <a:chOff x="4811100" y="1347717"/>
            <a:chExt cx="1759800" cy="2594708"/>
          </a:xfrm>
        </p:grpSpPr>
        <p:sp>
          <p:nvSpPr>
            <p:cNvPr id="116" name="Google Shape;116;p15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7" name="Google Shape;117;p15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15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9" name="Google Shape;119;p15"/>
            <p:cNvSpPr txBox="1"/>
            <p:nvPr/>
          </p:nvSpPr>
          <p:spPr>
            <a:xfrm>
              <a:off x="4814982" y="1347717"/>
              <a:ext cx="1752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Curso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7592944" y="1057172"/>
            <a:ext cx="1189273" cy="1711729"/>
            <a:chOff x="4811100" y="1347717"/>
            <a:chExt cx="1759800" cy="2594708"/>
          </a:xfrm>
        </p:grpSpPr>
        <p:sp>
          <p:nvSpPr>
            <p:cNvPr id="121" name="Google Shape;121;p15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2" name="Google Shape;122;p15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Google Shape;123;p15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4" name="Google Shape;124;p15"/>
            <p:cNvSpPr txBox="1"/>
            <p:nvPr/>
          </p:nvSpPr>
          <p:spPr>
            <a:xfrm>
              <a:off x="4814982" y="1347717"/>
              <a:ext cx="1752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Persona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4811162" y="2990165"/>
            <a:ext cx="1189273" cy="1462202"/>
            <a:chOff x="4811100" y="1347717"/>
            <a:chExt cx="1759800" cy="2657100"/>
          </a:xfrm>
        </p:grpSpPr>
        <p:sp>
          <p:nvSpPr>
            <p:cNvPr id="126" name="Google Shape;126;p15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7" name="Google Shape;127;p15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" name="Google Shape;128;p15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9" name="Google Shape;129;p15"/>
            <p:cNvSpPr txBox="1"/>
            <p:nvPr/>
          </p:nvSpPr>
          <p:spPr>
            <a:xfrm>
              <a:off x="4814982" y="1347717"/>
              <a:ext cx="1752000" cy="265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. . .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0" name="Google Shape;130;p15"/>
          <p:cNvGrpSpPr/>
          <p:nvPr/>
        </p:nvGrpSpPr>
        <p:grpSpPr>
          <a:xfrm>
            <a:off x="6202044" y="2990233"/>
            <a:ext cx="1189273" cy="1742082"/>
            <a:chOff x="4811100" y="1347725"/>
            <a:chExt cx="1759800" cy="2594700"/>
          </a:xfrm>
        </p:grpSpPr>
        <p:sp>
          <p:nvSpPr>
            <p:cNvPr id="131" name="Google Shape;131;p15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2" name="Google Shape;132;p15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" name="Google Shape;133;p15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4" name="Google Shape;134;p15"/>
            <p:cNvSpPr txBox="1"/>
            <p:nvPr/>
          </p:nvSpPr>
          <p:spPr>
            <a:xfrm>
              <a:off x="4814984" y="1347740"/>
              <a:ext cx="1752000" cy="217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Libro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" name="Google Shape;135;p15"/>
          <p:cNvGrpSpPr/>
          <p:nvPr/>
        </p:nvGrpSpPr>
        <p:grpSpPr>
          <a:xfrm>
            <a:off x="7592944" y="2990170"/>
            <a:ext cx="1189273" cy="1742087"/>
            <a:chOff x="4811100" y="1347717"/>
            <a:chExt cx="1759800" cy="2594708"/>
          </a:xfrm>
        </p:grpSpPr>
        <p:sp>
          <p:nvSpPr>
            <p:cNvPr id="136" name="Google Shape;136;p15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7" name="Google Shape;137;p15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Google Shape;138;p15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9" name="Google Shape;139;p15"/>
            <p:cNvSpPr txBox="1"/>
            <p:nvPr/>
          </p:nvSpPr>
          <p:spPr>
            <a:xfrm>
              <a:off x="4814982" y="1347717"/>
              <a:ext cx="17520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Vehículo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891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title"/>
          </p:nvPr>
        </p:nvSpPr>
        <p:spPr>
          <a:xfrm>
            <a:off x="265500" y="160150"/>
            <a:ext cx="41985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/>
              <a:t>Atributos</a:t>
            </a:r>
            <a:endParaRPr sz="2400"/>
          </a:p>
        </p:txBody>
      </p:sp>
      <p:sp>
        <p:nvSpPr>
          <p:cNvPr id="149" name="Google Shape;149;p16"/>
          <p:cNvSpPr txBox="1"/>
          <p:nvPr/>
        </p:nvSpPr>
        <p:spPr>
          <a:xfrm>
            <a:off x="34275" y="660250"/>
            <a:ext cx="4572000" cy="4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Nos permite conocer las características de las clases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Características cuyos valores describen cada instancia de una clase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* También se los conoce como propiedades. *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None/>
            </a:pPr>
            <a:endParaRPr sz="2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4697425" y="312550"/>
            <a:ext cx="41985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 dirty="0">
                <a:solidFill>
                  <a:schemeClr val="lt1"/>
                </a:solidFill>
              </a:rPr>
              <a:t>Algunos ejemplos…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34" name="Google Shape;108;p15">
            <a:extLst>
              <a:ext uri="{FF2B5EF4-FFF2-40B4-BE49-F238E27FC236}">
                <a16:creationId xmlns:a16="http://schemas.microsoft.com/office/drawing/2014/main" id="{8C59618A-5D9E-448A-A196-C2CE48741A2D}"/>
              </a:ext>
            </a:extLst>
          </p:cNvPr>
          <p:cNvSpPr/>
          <p:nvPr/>
        </p:nvSpPr>
        <p:spPr>
          <a:xfrm>
            <a:off x="4811144" y="1057139"/>
            <a:ext cx="1189273" cy="1711724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09;p15">
            <a:extLst>
              <a:ext uri="{FF2B5EF4-FFF2-40B4-BE49-F238E27FC236}">
                <a16:creationId xmlns:a16="http://schemas.microsoft.com/office/drawing/2014/main" id="{4074F40E-259F-4046-87FC-6957FBE2CDC0}"/>
              </a:ext>
            </a:extLst>
          </p:cNvPr>
          <p:cNvCxnSpPr/>
          <p:nvPr/>
        </p:nvCxnSpPr>
        <p:spPr>
          <a:xfrm rot="10800000" flipH="1">
            <a:off x="4813780" y="1417550"/>
            <a:ext cx="1184002" cy="653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110;p15">
            <a:extLst>
              <a:ext uri="{FF2B5EF4-FFF2-40B4-BE49-F238E27FC236}">
                <a16:creationId xmlns:a16="http://schemas.microsoft.com/office/drawing/2014/main" id="{2E0BEBEE-9F22-447C-928F-6DCDEC637C45}"/>
              </a:ext>
            </a:extLst>
          </p:cNvPr>
          <p:cNvCxnSpPr/>
          <p:nvPr/>
        </p:nvCxnSpPr>
        <p:spPr>
          <a:xfrm rot="10800000" flipH="1">
            <a:off x="4813780" y="2278854"/>
            <a:ext cx="1184002" cy="653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111;p15">
            <a:extLst>
              <a:ext uri="{FF2B5EF4-FFF2-40B4-BE49-F238E27FC236}">
                <a16:creationId xmlns:a16="http://schemas.microsoft.com/office/drawing/2014/main" id="{DC61FBF4-39F5-4C40-9B18-A6543C433A9E}"/>
              </a:ext>
            </a:extLst>
          </p:cNvPr>
          <p:cNvSpPr txBox="1"/>
          <p:nvPr/>
        </p:nvSpPr>
        <p:spPr>
          <a:xfrm>
            <a:off x="4813775" y="1057126"/>
            <a:ext cx="11841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Animal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8" name="Google Shape;115;p15">
            <a:extLst>
              <a:ext uri="{FF2B5EF4-FFF2-40B4-BE49-F238E27FC236}">
                <a16:creationId xmlns:a16="http://schemas.microsoft.com/office/drawing/2014/main" id="{13704DB6-C0F0-48D6-AF16-B72FBDB4046B}"/>
              </a:ext>
            </a:extLst>
          </p:cNvPr>
          <p:cNvGrpSpPr/>
          <p:nvPr/>
        </p:nvGrpSpPr>
        <p:grpSpPr>
          <a:xfrm>
            <a:off x="6202044" y="1057172"/>
            <a:ext cx="1189273" cy="1711729"/>
            <a:chOff x="4811100" y="1347717"/>
            <a:chExt cx="1759800" cy="2594708"/>
          </a:xfrm>
        </p:grpSpPr>
        <p:sp>
          <p:nvSpPr>
            <p:cNvPr id="39" name="Google Shape;116;p15">
              <a:extLst>
                <a:ext uri="{FF2B5EF4-FFF2-40B4-BE49-F238E27FC236}">
                  <a16:creationId xmlns:a16="http://schemas.microsoft.com/office/drawing/2014/main" id="{555DAB66-7C9D-424C-B8DD-DDA61AEA2354}"/>
                </a:ext>
              </a:extLst>
            </p:cNvPr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0" name="Google Shape;117;p15">
              <a:extLst>
                <a:ext uri="{FF2B5EF4-FFF2-40B4-BE49-F238E27FC236}">
                  <a16:creationId xmlns:a16="http://schemas.microsoft.com/office/drawing/2014/main" id="{A396AACD-3280-44C8-A592-9E24859C86FF}"/>
                </a:ext>
              </a:extLst>
            </p:cNvPr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118;p15">
              <a:extLst>
                <a:ext uri="{FF2B5EF4-FFF2-40B4-BE49-F238E27FC236}">
                  <a16:creationId xmlns:a16="http://schemas.microsoft.com/office/drawing/2014/main" id="{14075CFF-7CC3-4A40-B0EE-A30AA0D7337C}"/>
                </a:ext>
              </a:extLst>
            </p:cNvPr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" name="Google Shape;119;p15">
              <a:extLst>
                <a:ext uri="{FF2B5EF4-FFF2-40B4-BE49-F238E27FC236}">
                  <a16:creationId xmlns:a16="http://schemas.microsoft.com/office/drawing/2014/main" id="{903E1629-9EEE-4E98-8DFB-9E06977AF5B4}"/>
                </a:ext>
              </a:extLst>
            </p:cNvPr>
            <p:cNvSpPr txBox="1"/>
            <p:nvPr/>
          </p:nvSpPr>
          <p:spPr>
            <a:xfrm>
              <a:off x="4814982" y="1347717"/>
              <a:ext cx="1752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Curso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" name="Google Shape;120;p15">
            <a:extLst>
              <a:ext uri="{FF2B5EF4-FFF2-40B4-BE49-F238E27FC236}">
                <a16:creationId xmlns:a16="http://schemas.microsoft.com/office/drawing/2014/main" id="{B2CED92D-C10F-40A9-9F3F-16A05C8F60C7}"/>
              </a:ext>
            </a:extLst>
          </p:cNvPr>
          <p:cNvGrpSpPr/>
          <p:nvPr/>
        </p:nvGrpSpPr>
        <p:grpSpPr>
          <a:xfrm>
            <a:off x="7592944" y="1057172"/>
            <a:ext cx="1189273" cy="1711729"/>
            <a:chOff x="4811100" y="1347717"/>
            <a:chExt cx="1759800" cy="2594708"/>
          </a:xfrm>
        </p:grpSpPr>
        <p:sp>
          <p:nvSpPr>
            <p:cNvPr id="44" name="Google Shape;121;p15">
              <a:extLst>
                <a:ext uri="{FF2B5EF4-FFF2-40B4-BE49-F238E27FC236}">
                  <a16:creationId xmlns:a16="http://schemas.microsoft.com/office/drawing/2014/main" id="{3A7FD138-F87F-4DDC-B7D1-20464ADC5938}"/>
                </a:ext>
              </a:extLst>
            </p:cNvPr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5" name="Google Shape;122;p15">
              <a:extLst>
                <a:ext uri="{FF2B5EF4-FFF2-40B4-BE49-F238E27FC236}">
                  <a16:creationId xmlns:a16="http://schemas.microsoft.com/office/drawing/2014/main" id="{969B7100-1702-4BEA-BFAD-8661DC536857}"/>
                </a:ext>
              </a:extLst>
            </p:cNvPr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123;p15">
              <a:extLst>
                <a:ext uri="{FF2B5EF4-FFF2-40B4-BE49-F238E27FC236}">
                  <a16:creationId xmlns:a16="http://schemas.microsoft.com/office/drawing/2014/main" id="{CB8C9348-2609-43CC-BCB1-EBD61BFF43D7}"/>
                </a:ext>
              </a:extLst>
            </p:cNvPr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" name="Google Shape;124;p15">
              <a:extLst>
                <a:ext uri="{FF2B5EF4-FFF2-40B4-BE49-F238E27FC236}">
                  <a16:creationId xmlns:a16="http://schemas.microsoft.com/office/drawing/2014/main" id="{A2B934BA-40F7-46A4-A92F-2EA1030B7A52}"/>
                </a:ext>
              </a:extLst>
            </p:cNvPr>
            <p:cNvSpPr txBox="1"/>
            <p:nvPr/>
          </p:nvSpPr>
          <p:spPr>
            <a:xfrm>
              <a:off x="4814982" y="1347717"/>
              <a:ext cx="1752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Persona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" name="Google Shape;125;p15">
            <a:extLst>
              <a:ext uri="{FF2B5EF4-FFF2-40B4-BE49-F238E27FC236}">
                <a16:creationId xmlns:a16="http://schemas.microsoft.com/office/drawing/2014/main" id="{2D8839F6-87C4-460F-A485-7AE968C6FDF2}"/>
              </a:ext>
            </a:extLst>
          </p:cNvPr>
          <p:cNvGrpSpPr/>
          <p:nvPr/>
        </p:nvGrpSpPr>
        <p:grpSpPr>
          <a:xfrm>
            <a:off x="4811162" y="2990165"/>
            <a:ext cx="1189273" cy="1462202"/>
            <a:chOff x="4811100" y="1347717"/>
            <a:chExt cx="1759800" cy="2657100"/>
          </a:xfrm>
        </p:grpSpPr>
        <p:sp>
          <p:nvSpPr>
            <p:cNvPr id="49" name="Google Shape;126;p15">
              <a:extLst>
                <a:ext uri="{FF2B5EF4-FFF2-40B4-BE49-F238E27FC236}">
                  <a16:creationId xmlns:a16="http://schemas.microsoft.com/office/drawing/2014/main" id="{65678D91-E7F0-46A1-AED3-EAC50B179EE4}"/>
                </a:ext>
              </a:extLst>
            </p:cNvPr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0" name="Google Shape;127;p15">
              <a:extLst>
                <a:ext uri="{FF2B5EF4-FFF2-40B4-BE49-F238E27FC236}">
                  <a16:creationId xmlns:a16="http://schemas.microsoft.com/office/drawing/2014/main" id="{009F2421-012E-4093-BD9B-462CA18F88F6}"/>
                </a:ext>
              </a:extLst>
            </p:cNvPr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128;p15">
              <a:extLst>
                <a:ext uri="{FF2B5EF4-FFF2-40B4-BE49-F238E27FC236}">
                  <a16:creationId xmlns:a16="http://schemas.microsoft.com/office/drawing/2014/main" id="{9D3200BD-55C3-4680-BE41-2DAC1B101F95}"/>
                </a:ext>
              </a:extLst>
            </p:cNvPr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2" name="Google Shape;129;p15">
              <a:extLst>
                <a:ext uri="{FF2B5EF4-FFF2-40B4-BE49-F238E27FC236}">
                  <a16:creationId xmlns:a16="http://schemas.microsoft.com/office/drawing/2014/main" id="{5125F3D9-AEC3-41C7-B9F3-9EBFD8B4CE47}"/>
                </a:ext>
              </a:extLst>
            </p:cNvPr>
            <p:cNvSpPr txBox="1"/>
            <p:nvPr/>
          </p:nvSpPr>
          <p:spPr>
            <a:xfrm>
              <a:off x="4814982" y="1347717"/>
              <a:ext cx="1752000" cy="265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. . .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" name="Google Shape;130;p15">
            <a:extLst>
              <a:ext uri="{FF2B5EF4-FFF2-40B4-BE49-F238E27FC236}">
                <a16:creationId xmlns:a16="http://schemas.microsoft.com/office/drawing/2014/main" id="{CF1FB8FD-DEF9-4676-B1D4-884E4B0D0AEF}"/>
              </a:ext>
            </a:extLst>
          </p:cNvPr>
          <p:cNvGrpSpPr/>
          <p:nvPr/>
        </p:nvGrpSpPr>
        <p:grpSpPr>
          <a:xfrm>
            <a:off x="6202044" y="2990233"/>
            <a:ext cx="1189273" cy="1742082"/>
            <a:chOff x="4811100" y="1347725"/>
            <a:chExt cx="1759800" cy="2594700"/>
          </a:xfrm>
        </p:grpSpPr>
        <p:sp>
          <p:nvSpPr>
            <p:cNvPr id="54" name="Google Shape;131;p15">
              <a:extLst>
                <a:ext uri="{FF2B5EF4-FFF2-40B4-BE49-F238E27FC236}">
                  <a16:creationId xmlns:a16="http://schemas.microsoft.com/office/drawing/2014/main" id="{ED679975-CEE9-457C-93BB-6CD670B2CFCA}"/>
                </a:ext>
              </a:extLst>
            </p:cNvPr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5" name="Google Shape;132;p15">
              <a:extLst>
                <a:ext uri="{FF2B5EF4-FFF2-40B4-BE49-F238E27FC236}">
                  <a16:creationId xmlns:a16="http://schemas.microsoft.com/office/drawing/2014/main" id="{C8D2C11E-1E5B-4672-B22A-5C960AD246C5}"/>
                </a:ext>
              </a:extLst>
            </p:cNvPr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133;p15">
              <a:extLst>
                <a:ext uri="{FF2B5EF4-FFF2-40B4-BE49-F238E27FC236}">
                  <a16:creationId xmlns:a16="http://schemas.microsoft.com/office/drawing/2014/main" id="{2D448627-BD66-4AFF-9FC9-9F58D14AE5B2}"/>
                </a:ext>
              </a:extLst>
            </p:cNvPr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" name="Google Shape;134;p15">
              <a:extLst>
                <a:ext uri="{FF2B5EF4-FFF2-40B4-BE49-F238E27FC236}">
                  <a16:creationId xmlns:a16="http://schemas.microsoft.com/office/drawing/2014/main" id="{D6235600-C1AC-4140-9373-CC0DD6264056}"/>
                </a:ext>
              </a:extLst>
            </p:cNvPr>
            <p:cNvSpPr txBox="1"/>
            <p:nvPr/>
          </p:nvSpPr>
          <p:spPr>
            <a:xfrm>
              <a:off x="4814984" y="1347740"/>
              <a:ext cx="1752000" cy="217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Libro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" name="Google Shape;135;p15">
            <a:extLst>
              <a:ext uri="{FF2B5EF4-FFF2-40B4-BE49-F238E27FC236}">
                <a16:creationId xmlns:a16="http://schemas.microsoft.com/office/drawing/2014/main" id="{FFD23C6E-0233-46CA-B443-3D0DB98F55C6}"/>
              </a:ext>
            </a:extLst>
          </p:cNvPr>
          <p:cNvGrpSpPr/>
          <p:nvPr/>
        </p:nvGrpSpPr>
        <p:grpSpPr>
          <a:xfrm>
            <a:off x="7592944" y="2990170"/>
            <a:ext cx="1189273" cy="1742087"/>
            <a:chOff x="4811100" y="1347717"/>
            <a:chExt cx="1759800" cy="2594708"/>
          </a:xfrm>
        </p:grpSpPr>
        <p:sp>
          <p:nvSpPr>
            <p:cNvPr id="59" name="Google Shape;136;p15">
              <a:extLst>
                <a:ext uri="{FF2B5EF4-FFF2-40B4-BE49-F238E27FC236}">
                  <a16:creationId xmlns:a16="http://schemas.microsoft.com/office/drawing/2014/main" id="{A56FC808-D55D-48D3-ADDE-E98F93E0DF49}"/>
                </a:ext>
              </a:extLst>
            </p:cNvPr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0" name="Google Shape;137;p15">
              <a:extLst>
                <a:ext uri="{FF2B5EF4-FFF2-40B4-BE49-F238E27FC236}">
                  <a16:creationId xmlns:a16="http://schemas.microsoft.com/office/drawing/2014/main" id="{8A7783E2-7ED5-4D76-9C19-C84271722843}"/>
                </a:ext>
              </a:extLst>
            </p:cNvPr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138;p15">
              <a:extLst>
                <a:ext uri="{FF2B5EF4-FFF2-40B4-BE49-F238E27FC236}">
                  <a16:creationId xmlns:a16="http://schemas.microsoft.com/office/drawing/2014/main" id="{41898D05-740E-416A-9C33-D25AF98D71C4}"/>
                </a:ext>
              </a:extLst>
            </p:cNvPr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" name="Google Shape;139;p15">
              <a:extLst>
                <a:ext uri="{FF2B5EF4-FFF2-40B4-BE49-F238E27FC236}">
                  <a16:creationId xmlns:a16="http://schemas.microsoft.com/office/drawing/2014/main" id="{7A442761-9FFB-4F4C-AA9A-392CB844A0B6}"/>
                </a:ext>
              </a:extLst>
            </p:cNvPr>
            <p:cNvSpPr txBox="1"/>
            <p:nvPr/>
          </p:nvSpPr>
          <p:spPr>
            <a:xfrm>
              <a:off x="4814982" y="1347717"/>
              <a:ext cx="17520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Vehículo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title"/>
          </p:nvPr>
        </p:nvSpPr>
        <p:spPr>
          <a:xfrm>
            <a:off x="265500" y="160150"/>
            <a:ext cx="41985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/>
              <a:t>Atributos</a:t>
            </a:r>
            <a:endParaRPr sz="2400"/>
          </a:p>
        </p:txBody>
      </p:sp>
      <p:sp>
        <p:nvSpPr>
          <p:cNvPr id="145" name="Google Shape;145;p16"/>
          <p:cNvSpPr/>
          <p:nvPr/>
        </p:nvSpPr>
        <p:spPr>
          <a:xfrm>
            <a:off x="4811144" y="1057139"/>
            <a:ext cx="1189200" cy="17118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" name="Google Shape;146;p16"/>
          <p:cNvCxnSpPr/>
          <p:nvPr/>
        </p:nvCxnSpPr>
        <p:spPr>
          <a:xfrm rot="10800000" flipH="1">
            <a:off x="4813780" y="1417481"/>
            <a:ext cx="1184100" cy="6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16"/>
          <p:cNvCxnSpPr/>
          <p:nvPr/>
        </p:nvCxnSpPr>
        <p:spPr>
          <a:xfrm rot="10800000" flipH="1">
            <a:off x="4813780" y="2278785"/>
            <a:ext cx="1184100" cy="6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" name="Google Shape;148;p16"/>
          <p:cNvSpPr txBox="1"/>
          <p:nvPr/>
        </p:nvSpPr>
        <p:spPr>
          <a:xfrm>
            <a:off x="4813775" y="1057126"/>
            <a:ext cx="11841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Animal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34275" y="660250"/>
            <a:ext cx="4572000" cy="4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Nos permite conocer las características de las clases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Características cuyos valores describen cada instancia de una clase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* También se los conoce como propiedades. *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None/>
            </a:pPr>
            <a:endParaRPr sz="2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4697425" y="312550"/>
            <a:ext cx="41985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>
                <a:solidFill>
                  <a:schemeClr val="lt1"/>
                </a:solidFill>
              </a:rPr>
              <a:t>Algunos ejemplos…</a:t>
            </a:r>
            <a:endParaRPr sz="2400">
              <a:solidFill>
                <a:schemeClr val="lt1"/>
              </a:solidFill>
            </a:endParaRPr>
          </a:p>
        </p:txBody>
      </p:sp>
      <p:grpSp>
        <p:nvGrpSpPr>
          <p:cNvPr id="151" name="Google Shape;151;p16"/>
          <p:cNvGrpSpPr/>
          <p:nvPr/>
        </p:nvGrpSpPr>
        <p:grpSpPr>
          <a:xfrm>
            <a:off x="6202044" y="1057172"/>
            <a:ext cx="1189273" cy="1711729"/>
            <a:chOff x="4811100" y="1347717"/>
            <a:chExt cx="1759800" cy="2594708"/>
          </a:xfrm>
        </p:grpSpPr>
        <p:sp>
          <p:nvSpPr>
            <p:cNvPr id="152" name="Google Shape;152;p16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3" name="Google Shape;153;p16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" name="Google Shape;154;p16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5" name="Google Shape;155;p16"/>
            <p:cNvSpPr txBox="1"/>
            <p:nvPr/>
          </p:nvSpPr>
          <p:spPr>
            <a:xfrm>
              <a:off x="4814982" y="1347717"/>
              <a:ext cx="1752000" cy="207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Curso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 nombre: String</a:t>
              </a: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 descripcion: String</a:t>
              </a:r>
              <a:endPara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 duracion: int</a:t>
              </a: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6" name="Google Shape;156;p16"/>
          <p:cNvGrpSpPr/>
          <p:nvPr/>
        </p:nvGrpSpPr>
        <p:grpSpPr>
          <a:xfrm>
            <a:off x="7592944" y="1057172"/>
            <a:ext cx="1189273" cy="2077857"/>
            <a:chOff x="4811100" y="1347717"/>
            <a:chExt cx="1759800" cy="3149700"/>
          </a:xfrm>
        </p:grpSpPr>
        <p:sp>
          <p:nvSpPr>
            <p:cNvPr id="157" name="Google Shape;157;p16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8" name="Google Shape;158;p16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" name="Google Shape;159;p16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0" name="Google Shape;160;p16"/>
            <p:cNvSpPr txBox="1"/>
            <p:nvPr/>
          </p:nvSpPr>
          <p:spPr>
            <a:xfrm>
              <a:off x="4814982" y="1347717"/>
              <a:ext cx="1752000" cy="314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Persona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 nombre: String</a:t>
              </a: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- edad: int</a:t>
              </a: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- fechaNacimiento: Date</a:t>
              </a: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1" name="Google Shape;161;p16"/>
          <p:cNvGrpSpPr/>
          <p:nvPr/>
        </p:nvGrpSpPr>
        <p:grpSpPr>
          <a:xfrm>
            <a:off x="4811162" y="2990165"/>
            <a:ext cx="1189273" cy="1462202"/>
            <a:chOff x="4811100" y="1347717"/>
            <a:chExt cx="1759800" cy="2657100"/>
          </a:xfrm>
        </p:grpSpPr>
        <p:sp>
          <p:nvSpPr>
            <p:cNvPr id="162" name="Google Shape;162;p16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3" name="Google Shape;163;p16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" name="Google Shape;164;p16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5" name="Google Shape;165;p16"/>
            <p:cNvSpPr txBox="1"/>
            <p:nvPr/>
          </p:nvSpPr>
          <p:spPr>
            <a:xfrm>
              <a:off x="4814982" y="1347717"/>
              <a:ext cx="1752000" cy="265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. . .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6" name="Google Shape;166;p16"/>
          <p:cNvGrpSpPr/>
          <p:nvPr/>
        </p:nvGrpSpPr>
        <p:grpSpPr>
          <a:xfrm>
            <a:off x="6202044" y="2990233"/>
            <a:ext cx="1189273" cy="2139493"/>
            <a:chOff x="4811100" y="1347725"/>
            <a:chExt cx="1759800" cy="3186615"/>
          </a:xfrm>
        </p:grpSpPr>
        <p:sp>
          <p:nvSpPr>
            <p:cNvPr id="167" name="Google Shape;167;p16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8" name="Google Shape;168;p16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16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16"/>
            <p:cNvSpPr txBox="1"/>
            <p:nvPr/>
          </p:nvSpPr>
          <p:spPr>
            <a:xfrm>
              <a:off x="4814984" y="1347740"/>
              <a:ext cx="1752000" cy="318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Libro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- titulo: String</a:t>
              </a: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- autor: String</a:t>
              </a: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 año: String</a:t>
              </a: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1" name="Google Shape;171;p16"/>
          <p:cNvGrpSpPr/>
          <p:nvPr/>
        </p:nvGrpSpPr>
        <p:grpSpPr>
          <a:xfrm>
            <a:off x="7592944" y="2990170"/>
            <a:ext cx="1189273" cy="1742087"/>
            <a:chOff x="4811100" y="1347717"/>
            <a:chExt cx="1759800" cy="2594708"/>
          </a:xfrm>
        </p:grpSpPr>
        <p:sp>
          <p:nvSpPr>
            <p:cNvPr id="172" name="Google Shape;172;p16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73" name="Google Shape;173;p16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" name="Google Shape;174;p16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5" name="Google Shape;175;p16"/>
            <p:cNvSpPr txBox="1"/>
            <p:nvPr/>
          </p:nvSpPr>
          <p:spPr>
            <a:xfrm>
              <a:off x="4814982" y="1347717"/>
              <a:ext cx="17520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Vehículo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970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>
            <a:spLocks noGrp="1"/>
          </p:cNvSpPr>
          <p:nvPr>
            <p:ph type="title"/>
          </p:nvPr>
        </p:nvSpPr>
        <p:spPr>
          <a:xfrm>
            <a:off x="265500" y="160150"/>
            <a:ext cx="41985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/>
              <a:t>Métodos</a:t>
            </a:r>
            <a:endParaRPr sz="2400"/>
          </a:p>
        </p:txBody>
      </p:sp>
      <p:sp>
        <p:nvSpPr>
          <p:cNvPr id="185" name="Google Shape;185;p17"/>
          <p:cNvSpPr txBox="1"/>
          <p:nvPr/>
        </p:nvSpPr>
        <p:spPr>
          <a:xfrm>
            <a:off x="34275" y="660250"/>
            <a:ext cx="4572000" cy="4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Define una acción o comportamiento que un objeto puede realizar.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" sz="2000">
                <a:solidFill>
                  <a:srgbClr val="47474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Son esenciales para permitir a los objetos interactuar entre sí y realizar operaciones específicas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None/>
            </a:pPr>
            <a:endParaRPr sz="2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/>
          </p:nvPr>
        </p:nvSpPr>
        <p:spPr>
          <a:xfrm>
            <a:off x="4697425" y="312550"/>
            <a:ext cx="41985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>
                <a:solidFill>
                  <a:schemeClr val="lt1"/>
                </a:solidFill>
              </a:rPr>
              <a:t>Algunos ejemplos…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34" name="Google Shape;108;p15">
            <a:extLst>
              <a:ext uri="{FF2B5EF4-FFF2-40B4-BE49-F238E27FC236}">
                <a16:creationId xmlns:a16="http://schemas.microsoft.com/office/drawing/2014/main" id="{133AF758-A2E9-44DD-AA29-3F322477E1ED}"/>
              </a:ext>
            </a:extLst>
          </p:cNvPr>
          <p:cNvSpPr/>
          <p:nvPr/>
        </p:nvSpPr>
        <p:spPr>
          <a:xfrm>
            <a:off x="4811144" y="1057139"/>
            <a:ext cx="1189273" cy="1711724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09;p15">
            <a:extLst>
              <a:ext uri="{FF2B5EF4-FFF2-40B4-BE49-F238E27FC236}">
                <a16:creationId xmlns:a16="http://schemas.microsoft.com/office/drawing/2014/main" id="{9BE50285-4316-4367-801D-339B341BCAED}"/>
              </a:ext>
            </a:extLst>
          </p:cNvPr>
          <p:cNvCxnSpPr/>
          <p:nvPr/>
        </p:nvCxnSpPr>
        <p:spPr>
          <a:xfrm rot="10800000" flipH="1">
            <a:off x="4813780" y="1417550"/>
            <a:ext cx="1184002" cy="653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110;p15">
            <a:extLst>
              <a:ext uri="{FF2B5EF4-FFF2-40B4-BE49-F238E27FC236}">
                <a16:creationId xmlns:a16="http://schemas.microsoft.com/office/drawing/2014/main" id="{2F2458E6-5625-4B6D-9879-C6FBCDEC4656}"/>
              </a:ext>
            </a:extLst>
          </p:cNvPr>
          <p:cNvCxnSpPr/>
          <p:nvPr/>
        </p:nvCxnSpPr>
        <p:spPr>
          <a:xfrm rot="10800000" flipH="1">
            <a:off x="4813780" y="2278854"/>
            <a:ext cx="1184002" cy="653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111;p15">
            <a:extLst>
              <a:ext uri="{FF2B5EF4-FFF2-40B4-BE49-F238E27FC236}">
                <a16:creationId xmlns:a16="http://schemas.microsoft.com/office/drawing/2014/main" id="{77FE147F-11FB-4E83-868C-609AFA46348C}"/>
              </a:ext>
            </a:extLst>
          </p:cNvPr>
          <p:cNvSpPr txBox="1"/>
          <p:nvPr/>
        </p:nvSpPr>
        <p:spPr>
          <a:xfrm>
            <a:off x="4813775" y="1057126"/>
            <a:ext cx="11841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Animal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8" name="Google Shape;115;p15">
            <a:extLst>
              <a:ext uri="{FF2B5EF4-FFF2-40B4-BE49-F238E27FC236}">
                <a16:creationId xmlns:a16="http://schemas.microsoft.com/office/drawing/2014/main" id="{FAF5BFBB-F234-49BC-A6F8-2DF6A872C7A5}"/>
              </a:ext>
            </a:extLst>
          </p:cNvPr>
          <p:cNvGrpSpPr/>
          <p:nvPr/>
        </p:nvGrpSpPr>
        <p:grpSpPr>
          <a:xfrm>
            <a:off x="6202044" y="1057172"/>
            <a:ext cx="1189273" cy="1711729"/>
            <a:chOff x="4811100" y="1347717"/>
            <a:chExt cx="1759800" cy="2594708"/>
          </a:xfrm>
        </p:grpSpPr>
        <p:sp>
          <p:nvSpPr>
            <p:cNvPr id="39" name="Google Shape;116;p15">
              <a:extLst>
                <a:ext uri="{FF2B5EF4-FFF2-40B4-BE49-F238E27FC236}">
                  <a16:creationId xmlns:a16="http://schemas.microsoft.com/office/drawing/2014/main" id="{2545C003-5722-40C4-9692-4940B85498FC}"/>
                </a:ext>
              </a:extLst>
            </p:cNvPr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0" name="Google Shape;117;p15">
              <a:extLst>
                <a:ext uri="{FF2B5EF4-FFF2-40B4-BE49-F238E27FC236}">
                  <a16:creationId xmlns:a16="http://schemas.microsoft.com/office/drawing/2014/main" id="{A01D1D17-01E0-4DEC-82E3-C98EA0CB9330}"/>
                </a:ext>
              </a:extLst>
            </p:cNvPr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118;p15">
              <a:extLst>
                <a:ext uri="{FF2B5EF4-FFF2-40B4-BE49-F238E27FC236}">
                  <a16:creationId xmlns:a16="http://schemas.microsoft.com/office/drawing/2014/main" id="{4D781D57-3FCB-44CF-A226-5BC6F8CDB8F6}"/>
                </a:ext>
              </a:extLst>
            </p:cNvPr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" name="Google Shape;119;p15">
              <a:extLst>
                <a:ext uri="{FF2B5EF4-FFF2-40B4-BE49-F238E27FC236}">
                  <a16:creationId xmlns:a16="http://schemas.microsoft.com/office/drawing/2014/main" id="{4CA8F6A0-1F58-4E42-BEC4-37D9E2C34635}"/>
                </a:ext>
              </a:extLst>
            </p:cNvPr>
            <p:cNvSpPr txBox="1"/>
            <p:nvPr/>
          </p:nvSpPr>
          <p:spPr>
            <a:xfrm>
              <a:off x="4814982" y="1347717"/>
              <a:ext cx="1752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Curso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" name="Google Shape;120;p15">
            <a:extLst>
              <a:ext uri="{FF2B5EF4-FFF2-40B4-BE49-F238E27FC236}">
                <a16:creationId xmlns:a16="http://schemas.microsoft.com/office/drawing/2014/main" id="{CF061798-CD0D-4B2F-A5AB-887D57E80A74}"/>
              </a:ext>
            </a:extLst>
          </p:cNvPr>
          <p:cNvGrpSpPr/>
          <p:nvPr/>
        </p:nvGrpSpPr>
        <p:grpSpPr>
          <a:xfrm>
            <a:off x="7592944" y="1057172"/>
            <a:ext cx="1189273" cy="1711729"/>
            <a:chOff x="4811100" y="1347717"/>
            <a:chExt cx="1759800" cy="2594708"/>
          </a:xfrm>
        </p:grpSpPr>
        <p:sp>
          <p:nvSpPr>
            <p:cNvPr id="44" name="Google Shape;121;p15">
              <a:extLst>
                <a:ext uri="{FF2B5EF4-FFF2-40B4-BE49-F238E27FC236}">
                  <a16:creationId xmlns:a16="http://schemas.microsoft.com/office/drawing/2014/main" id="{67A3A897-3E46-4298-A385-153A24B70184}"/>
                </a:ext>
              </a:extLst>
            </p:cNvPr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5" name="Google Shape;122;p15">
              <a:extLst>
                <a:ext uri="{FF2B5EF4-FFF2-40B4-BE49-F238E27FC236}">
                  <a16:creationId xmlns:a16="http://schemas.microsoft.com/office/drawing/2014/main" id="{E68D47B2-F0F6-48A8-83ED-9807371CDC4C}"/>
                </a:ext>
              </a:extLst>
            </p:cNvPr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123;p15">
              <a:extLst>
                <a:ext uri="{FF2B5EF4-FFF2-40B4-BE49-F238E27FC236}">
                  <a16:creationId xmlns:a16="http://schemas.microsoft.com/office/drawing/2014/main" id="{9017510F-C1D2-4DC1-A9CE-FFD5250F3A46}"/>
                </a:ext>
              </a:extLst>
            </p:cNvPr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" name="Google Shape;124;p15">
              <a:extLst>
                <a:ext uri="{FF2B5EF4-FFF2-40B4-BE49-F238E27FC236}">
                  <a16:creationId xmlns:a16="http://schemas.microsoft.com/office/drawing/2014/main" id="{C4B3C77C-7F6E-4615-B03C-FF75ECC592D8}"/>
                </a:ext>
              </a:extLst>
            </p:cNvPr>
            <p:cNvSpPr txBox="1"/>
            <p:nvPr/>
          </p:nvSpPr>
          <p:spPr>
            <a:xfrm>
              <a:off x="4814982" y="1347717"/>
              <a:ext cx="1752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Persona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" name="Google Shape;125;p15">
            <a:extLst>
              <a:ext uri="{FF2B5EF4-FFF2-40B4-BE49-F238E27FC236}">
                <a16:creationId xmlns:a16="http://schemas.microsoft.com/office/drawing/2014/main" id="{91515099-95E9-4156-B785-B14F4F8B8480}"/>
              </a:ext>
            </a:extLst>
          </p:cNvPr>
          <p:cNvGrpSpPr/>
          <p:nvPr/>
        </p:nvGrpSpPr>
        <p:grpSpPr>
          <a:xfrm>
            <a:off x="4811162" y="2990165"/>
            <a:ext cx="1189273" cy="1462202"/>
            <a:chOff x="4811100" y="1347717"/>
            <a:chExt cx="1759800" cy="2657100"/>
          </a:xfrm>
        </p:grpSpPr>
        <p:sp>
          <p:nvSpPr>
            <p:cNvPr id="49" name="Google Shape;126;p15">
              <a:extLst>
                <a:ext uri="{FF2B5EF4-FFF2-40B4-BE49-F238E27FC236}">
                  <a16:creationId xmlns:a16="http://schemas.microsoft.com/office/drawing/2014/main" id="{5E06BCB9-089F-4438-AF00-0D6E4DE606AF}"/>
                </a:ext>
              </a:extLst>
            </p:cNvPr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0" name="Google Shape;127;p15">
              <a:extLst>
                <a:ext uri="{FF2B5EF4-FFF2-40B4-BE49-F238E27FC236}">
                  <a16:creationId xmlns:a16="http://schemas.microsoft.com/office/drawing/2014/main" id="{1C6F30AE-C50A-4446-92FA-CD322676D609}"/>
                </a:ext>
              </a:extLst>
            </p:cNvPr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128;p15">
              <a:extLst>
                <a:ext uri="{FF2B5EF4-FFF2-40B4-BE49-F238E27FC236}">
                  <a16:creationId xmlns:a16="http://schemas.microsoft.com/office/drawing/2014/main" id="{23BB98AC-D7C5-4EC5-9253-5806BB5A42F6}"/>
                </a:ext>
              </a:extLst>
            </p:cNvPr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2" name="Google Shape;129;p15">
              <a:extLst>
                <a:ext uri="{FF2B5EF4-FFF2-40B4-BE49-F238E27FC236}">
                  <a16:creationId xmlns:a16="http://schemas.microsoft.com/office/drawing/2014/main" id="{9F324997-B3A6-4018-BAF1-81F99CE81360}"/>
                </a:ext>
              </a:extLst>
            </p:cNvPr>
            <p:cNvSpPr txBox="1"/>
            <p:nvPr/>
          </p:nvSpPr>
          <p:spPr>
            <a:xfrm>
              <a:off x="4814982" y="1347717"/>
              <a:ext cx="1752000" cy="265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. . .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" name="Google Shape;130;p15">
            <a:extLst>
              <a:ext uri="{FF2B5EF4-FFF2-40B4-BE49-F238E27FC236}">
                <a16:creationId xmlns:a16="http://schemas.microsoft.com/office/drawing/2014/main" id="{E6539F2E-252C-4AE8-A809-D5589DA1DE71}"/>
              </a:ext>
            </a:extLst>
          </p:cNvPr>
          <p:cNvGrpSpPr/>
          <p:nvPr/>
        </p:nvGrpSpPr>
        <p:grpSpPr>
          <a:xfrm>
            <a:off x="6202044" y="2990233"/>
            <a:ext cx="1189273" cy="1742082"/>
            <a:chOff x="4811100" y="1347725"/>
            <a:chExt cx="1759800" cy="2594700"/>
          </a:xfrm>
        </p:grpSpPr>
        <p:sp>
          <p:nvSpPr>
            <p:cNvPr id="54" name="Google Shape;131;p15">
              <a:extLst>
                <a:ext uri="{FF2B5EF4-FFF2-40B4-BE49-F238E27FC236}">
                  <a16:creationId xmlns:a16="http://schemas.microsoft.com/office/drawing/2014/main" id="{C1A9449D-6CA0-42AA-BBFA-6F9FBA9E6B87}"/>
                </a:ext>
              </a:extLst>
            </p:cNvPr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5" name="Google Shape;132;p15">
              <a:extLst>
                <a:ext uri="{FF2B5EF4-FFF2-40B4-BE49-F238E27FC236}">
                  <a16:creationId xmlns:a16="http://schemas.microsoft.com/office/drawing/2014/main" id="{137439C7-3F71-42A1-9BC4-0876978DEC0F}"/>
                </a:ext>
              </a:extLst>
            </p:cNvPr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133;p15">
              <a:extLst>
                <a:ext uri="{FF2B5EF4-FFF2-40B4-BE49-F238E27FC236}">
                  <a16:creationId xmlns:a16="http://schemas.microsoft.com/office/drawing/2014/main" id="{30271A8F-04DE-4D8A-A743-BD7D2BC7546C}"/>
                </a:ext>
              </a:extLst>
            </p:cNvPr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" name="Google Shape;134;p15">
              <a:extLst>
                <a:ext uri="{FF2B5EF4-FFF2-40B4-BE49-F238E27FC236}">
                  <a16:creationId xmlns:a16="http://schemas.microsoft.com/office/drawing/2014/main" id="{7CAAA395-975D-45A5-B456-57E2834F0E20}"/>
                </a:ext>
              </a:extLst>
            </p:cNvPr>
            <p:cNvSpPr txBox="1"/>
            <p:nvPr/>
          </p:nvSpPr>
          <p:spPr>
            <a:xfrm>
              <a:off x="4814984" y="1347740"/>
              <a:ext cx="1752000" cy="217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Libro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" name="Google Shape;135;p15">
            <a:extLst>
              <a:ext uri="{FF2B5EF4-FFF2-40B4-BE49-F238E27FC236}">
                <a16:creationId xmlns:a16="http://schemas.microsoft.com/office/drawing/2014/main" id="{EF53BB0E-8E24-4F68-818D-67D9B8F79400}"/>
              </a:ext>
            </a:extLst>
          </p:cNvPr>
          <p:cNvGrpSpPr/>
          <p:nvPr/>
        </p:nvGrpSpPr>
        <p:grpSpPr>
          <a:xfrm>
            <a:off x="7592944" y="2990170"/>
            <a:ext cx="1189273" cy="1742087"/>
            <a:chOff x="4811100" y="1347717"/>
            <a:chExt cx="1759800" cy="2594708"/>
          </a:xfrm>
        </p:grpSpPr>
        <p:sp>
          <p:nvSpPr>
            <p:cNvPr id="59" name="Google Shape;136;p15">
              <a:extLst>
                <a:ext uri="{FF2B5EF4-FFF2-40B4-BE49-F238E27FC236}">
                  <a16:creationId xmlns:a16="http://schemas.microsoft.com/office/drawing/2014/main" id="{A6E3D461-E5FC-4A23-AF3F-FB8E8D32878A}"/>
                </a:ext>
              </a:extLst>
            </p:cNvPr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0" name="Google Shape;137;p15">
              <a:extLst>
                <a:ext uri="{FF2B5EF4-FFF2-40B4-BE49-F238E27FC236}">
                  <a16:creationId xmlns:a16="http://schemas.microsoft.com/office/drawing/2014/main" id="{050A45A6-28B6-4356-91F9-EF267E5308E3}"/>
                </a:ext>
              </a:extLst>
            </p:cNvPr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138;p15">
              <a:extLst>
                <a:ext uri="{FF2B5EF4-FFF2-40B4-BE49-F238E27FC236}">
                  <a16:creationId xmlns:a16="http://schemas.microsoft.com/office/drawing/2014/main" id="{1C3EFB3F-F58B-4DD9-8BB1-D1DF8E1B25B6}"/>
                </a:ext>
              </a:extLst>
            </p:cNvPr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" name="Google Shape;139;p15">
              <a:extLst>
                <a:ext uri="{FF2B5EF4-FFF2-40B4-BE49-F238E27FC236}">
                  <a16:creationId xmlns:a16="http://schemas.microsoft.com/office/drawing/2014/main" id="{6B3CE99E-927B-429E-AB89-020FA93C7440}"/>
                </a:ext>
              </a:extLst>
            </p:cNvPr>
            <p:cNvSpPr txBox="1"/>
            <p:nvPr/>
          </p:nvSpPr>
          <p:spPr>
            <a:xfrm>
              <a:off x="4814982" y="1347717"/>
              <a:ext cx="17520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Vehículo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>
            <a:spLocks noGrp="1"/>
          </p:cNvSpPr>
          <p:nvPr>
            <p:ph type="title"/>
          </p:nvPr>
        </p:nvSpPr>
        <p:spPr>
          <a:xfrm>
            <a:off x="265500" y="160150"/>
            <a:ext cx="41985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/>
              <a:t>Métodos</a:t>
            </a:r>
            <a:endParaRPr sz="2400"/>
          </a:p>
        </p:txBody>
      </p:sp>
      <p:sp>
        <p:nvSpPr>
          <p:cNvPr id="181" name="Google Shape;181;p17"/>
          <p:cNvSpPr/>
          <p:nvPr/>
        </p:nvSpPr>
        <p:spPr>
          <a:xfrm>
            <a:off x="4811144" y="1057139"/>
            <a:ext cx="1189200" cy="17118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" name="Google Shape;182;p17"/>
          <p:cNvCxnSpPr/>
          <p:nvPr/>
        </p:nvCxnSpPr>
        <p:spPr>
          <a:xfrm rot="10800000" flipH="1">
            <a:off x="4813780" y="1417481"/>
            <a:ext cx="1184100" cy="6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183;p17"/>
          <p:cNvCxnSpPr/>
          <p:nvPr/>
        </p:nvCxnSpPr>
        <p:spPr>
          <a:xfrm rot="10800000" flipH="1">
            <a:off x="4813780" y="2278785"/>
            <a:ext cx="1184100" cy="6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17"/>
          <p:cNvSpPr txBox="1"/>
          <p:nvPr/>
        </p:nvSpPr>
        <p:spPr>
          <a:xfrm>
            <a:off x="4813775" y="1057126"/>
            <a:ext cx="11841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Animal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+ dormir()</a:t>
            </a:r>
            <a:endParaRPr sz="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+ comer()</a:t>
            </a:r>
            <a:endParaRPr sz="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34275" y="660250"/>
            <a:ext cx="4572000" cy="4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Define una acción o comportamiento que un objeto puede realizar.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" sz="2000">
                <a:solidFill>
                  <a:srgbClr val="47474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Son esenciales para permitir a los objetos interactuar entre sí y realizar operaciones específicas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None/>
            </a:pPr>
            <a:endParaRPr sz="2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/>
          </p:nvPr>
        </p:nvSpPr>
        <p:spPr>
          <a:xfrm>
            <a:off x="4697425" y="312550"/>
            <a:ext cx="41985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>
                <a:solidFill>
                  <a:schemeClr val="lt1"/>
                </a:solidFill>
              </a:rPr>
              <a:t>Algunos ejemplos…</a:t>
            </a:r>
            <a:endParaRPr sz="2400">
              <a:solidFill>
                <a:schemeClr val="lt1"/>
              </a:solidFill>
            </a:endParaRPr>
          </a:p>
        </p:txBody>
      </p:sp>
      <p:grpSp>
        <p:nvGrpSpPr>
          <p:cNvPr id="187" name="Google Shape;187;p17"/>
          <p:cNvGrpSpPr/>
          <p:nvPr/>
        </p:nvGrpSpPr>
        <p:grpSpPr>
          <a:xfrm>
            <a:off x="6202044" y="1057172"/>
            <a:ext cx="1189273" cy="2231831"/>
            <a:chOff x="4811100" y="1347717"/>
            <a:chExt cx="1759800" cy="3383100"/>
          </a:xfrm>
        </p:grpSpPr>
        <p:sp>
          <p:nvSpPr>
            <p:cNvPr id="188" name="Google Shape;188;p17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9" name="Google Shape;189;p17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17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1" name="Google Shape;191;p17"/>
            <p:cNvSpPr txBox="1"/>
            <p:nvPr/>
          </p:nvSpPr>
          <p:spPr>
            <a:xfrm>
              <a:off x="4814982" y="1347717"/>
              <a:ext cx="1752000" cy="338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Curso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 dictarClases()</a:t>
              </a: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   calcularNotas()</a:t>
              </a:r>
              <a:endPara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2" name="Google Shape;192;p17"/>
          <p:cNvGrpSpPr/>
          <p:nvPr/>
        </p:nvGrpSpPr>
        <p:grpSpPr>
          <a:xfrm>
            <a:off x="7592944" y="1057172"/>
            <a:ext cx="1189273" cy="2662879"/>
            <a:chOff x="4811100" y="1347717"/>
            <a:chExt cx="1759800" cy="4036500"/>
          </a:xfrm>
        </p:grpSpPr>
        <p:sp>
          <p:nvSpPr>
            <p:cNvPr id="193" name="Google Shape;193;p17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4" name="Google Shape;194;p17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" name="Google Shape;195;p17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6" name="Google Shape;196;p17"/>
            <p:cNvSpPr txBox="1"/>
            <p:nvPr/>
          </p:nvSpPr>
          <p:spPr>
            <a:xfrm>
              <a:off x="4814982" y="1347717"/>
              <a:ext cx="1752000" cy="40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Persona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 saludar()</a:t>
              </a: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 obtenerEdad()</a:t>
              </a: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7" name="Google Shape;197;p17"/>
          <p:cNvGrpSpPr/>
          <p:nvPr/>
        </p:nvGrpSpPr>
        <p:grpSpPr>
          <a:xfrm>
            <a:off x="4811162" y="2990165"/>
            <a:ext cx="1189273" cy="1462202"/>
            <a:chOff x="4811100" y="1347717"/>
            <a:chExt cx="1759800" cy="2657100"/>
          </a:xfrm>
        </p:grpSpPr>
        <p:sp>
          <p:nvSpPr>
            <p:cNvPr id="198" name="Google Shape;198;p17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9" name="Google Shape;199;p17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17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1" name="Google Shape;201;p17"/>
            <p:cNvSpPr txBox="1"/>
            <p:nvPr/>
          </p:nvSpPr>
          <p:spPr>
            <a:xfrm>
              <a:off x="4814982" y="1347717"/>
              <a:ext cx="1752000" cy="265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. . .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2" name="Google Shape;202;p17"/>
          <p:cNvGrpSpPr/>
          <p:nvPr/>
        </p:nvGrpSpPr>
        <p:grpSpPr>
          <a:xfrm>
            <a:off x="6202044" y="2990233"/>
            <a:ext cx="1189273" cy="2201128"/>
            <a:chOff x="4811100" y="1347725"/>
            <a:chExt cx="1759800" cy="3278415"/>
          </a:xfrm>
        </p:grpSpPr>
        <p:sp>
          <p:nvSpPr>
            <p:cNvPr id="203" name="Google Shape;203;p17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4" name="Google Shape;204;p17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17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6" name="Google Shape;206;p17"/>
            <p:cNvSpPr txBox="1"/>
            <p:nvPr/>
          </p:nvSpPr>
          <p:spPr>
            <a:xfrm>
              <a:off x="4814984" y="1347740"/>
              <a:ext cx="1752000" cy="327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Libro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 . .</a:t>
              </a: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7" name="Google Shape;207;p17"/>
          <p:cNvGrpSpPr/>
          <p:nvPr/>
        </p:nvGrpSpPr>
        <p:grpSpPr>
          <a:xfrm>
            <a:off x="7592944" y="2990170"/>
            <a:ext cx="1189273" cy="1800896"/>
            <a:chOff x="4811100" y="1347717"/>
            <a:chExt cx="1759800" cy="2682300"/>
          </a:xfrm>
        </p:grpSpPr>
        <p:sp>
          <p:nvSpPr>
            <p:cNvPr id="208" name="Google Shape;208;p17"/>
            <p:cNvSpPr/>
            <p:nvPr/>
          </p:nvSpPr>
          <p:spPr>
            <a:xfrm>
              <a:off x="4811100" y="1347725"/>
              <a:ext cx="1759800" cy="2594700"/>
            </a:xfrm>
            <a:prstGeom prst="rect">
              <a:avLst/>
            </a:pr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9" name="Google Shape;209;p17"/>
            <p:cNvCxnSpPr/>
            <p:nvPr/>
          </p:nvCxnSpPr>
          <p:spPr>
            <a:xfrm rot="10800000" flipH="1">
              <a:off x="4815000" y="18940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17"/>
            <p:cNvCxnSpPr/>
            <p:nvPr/>
          </p:nvCxnSpPr>
          <p:spPr>
            <a:xfrm rot="10800000" flipH="1">
              <a:off x="4815000" y="3199650"/>
              <a:ext cx="17520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1" name="Google Shape;211;p17"/>
            <p:cNvSpPr txBox="1"/>
            <p:nvPr/>
          </p:nvSpPr>
          <p:spPr>
            <a:xfrm>
              <a:off x="4814982" y="1347717"/>
              <a:ext cx="1752000" cy="268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Vehículo</a:t>
              </a: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 . .</a:t>
              </a:r>
              <a:endParaRPr sz="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460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7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Visibilidad</a:t>
            </a:r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roxima Nova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Modificadores de acceso que controlan la accesibilidad</a:t>
            </a:r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body" idx="2"/>
          </p:nvPr>
        </p:nvSpPr>
        <p:spPr>
          <a:xfrm>
            <a:off x="4572000" y="724200"/>
            <a:ext cx="42045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61950" algn="l" rtl="0">
              <a:spcBef>
                <a:spcPts val="64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s" sz="2100" dirty="0">
                <a:latin typeface="Calibri"/>
                <a:ea typeface="Calibri"/>
                <a:cs typeface="Calibri"/>
                <a:sym typeface="Calibri"/>
              </a:rPr>
              <a:t>Privado (-): Solo accesible dentro de la misma clase.</a:t>
            </a:r>
            <a:endParaRPr sz="21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21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0" indent="-361950" algn="l" rtl="0">
              <a:spcBef>
                <a:spcPts val="64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s" sz="2100" dirty="0">
                <a:latin typeface="Calibri"/>
                <a:ea typeface="Calibri"/>
                <a:cs typeface="Calibri"/>
                <a:sym typeface="Calibri"/>
              </a:rPr>
              <a:t>Público  (+): Accesible desde cualquier clase.</a:t>
            </a:r>
            <a:endParaRPr sz="21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21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0" indent="-361950" algn="l" rtl="0">
              <a:spcBef>
                <a:spcPts val="64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s" sz="2100" dirty="0">
                <a:latin typeface="Calibri"/>
                <a:ea typeface="Calibri"/>
                <a:cs typeface="Calibri"/>
                <a:sym typeface="Calibri"/>
              </a:rPr>
              <a:t>Protegido (#): Accesible solo desde la misma clase y sus subclases.</a:t>
            </a:r>
            <a:endParaRPr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>
            <a:spLocks noGrp="1"/>
          </p:cNvSpPr>
          <p:nvPr>
            <p:ph type="title"/>
          </p:nvPr>
        </p:nvSpPr>
        <p:spPr>
          <a:xfrm>
            <a:off x="265500" y="413250"/>
            <a:ext cx="4045200" cy="7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Relaciones</a:t>
            </a:r>
            <a:endParaRPr/>
          </a:p>
        </p:txBody>
      </p:sp>
      <p:sp>
        <p:nvSpPr>
          <p:cNvPr id="224" name="Google Shape;224;p19"/>
          <p:cNvSpPr txBox="1">
            <a:spLocks noGrp="1"/>
          </p:cNvSpPr>
          <p:nvPr>
            <p:ph type="subTitle" idx="1"/>
          </p:nvPr>
        </p:nvSpPr>
        <p:spPr>
          <a:xfrm>
            <a:off x="265500" y="1302448"/>
            <a:ext cx="4045200" cy="35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roxima Nova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Representan cómo se conectan e interactúan los distintos elementos de un sistema.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roxima Nova"/>
              <a:buChar char="●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Ayudan a modelar la estructura y el comportamiento del sistema en términos de sus componentes y sus interacciones.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8593825" y="2765625"/>
            <a:ext cx="344225" cy="265550"/>
          </a:xfrm>
          <a:prstGeom prst="flowChartDecision">
            <a:avLst/>
          </a:prstGeom>
          <a:solidFill>
            <a:schemeClr val="dk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19"/>
          <p:cNvSpPr/>
          <p:nvPr/>
        </p:nvSpPr>
        <p:spPr>
          <a:xfrm rot="5400000">
            <a:off x="8602525" y="532025"/>
            <a:ext cx="248100" cy="2655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7" name="Google Shape;227;p19"/>
          <p:cNvCxnSpPr>
            <a:stCxn id="226" idx="3"/>
          </p:cNvCxnSpPr>
          <p:nvPr/>
        </p:nvCxnSpPr>
        <p:spPr>
          <a:xfrm rot="10800000">
            <a:off x="7349425" y="658775"/>
            <a:ext cx="1244400" cy="6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19"/>
          <p:cNvCxnSpPr/>
          <p:nvPr/>
        </p:nvCxnSpPr>
        <p:spPr>
          <a:xfrm rot="10800000">
            <a:off x="7349425" y="1929213"/>
            <a:ext cx="1244400" cy="6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p19"/>
          <p:cNvCxnSpPr/>
          <p:nvPr/>
        </p:nvCxnSpPr>
        <p:spPr>
          <a:xfrm rot="10800000">
            <a:off x="7349425" y="2895400"/>
            <a:ext cx="1244400" cy="6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0" name="Google Shape;230;p19"/>
          <p:cNvSpPr txBox="1">
            <a:spLocks noGrp="1"/>
          </p:cNvSpPr>
          <p:nvPr>
            <p:ph type="subTitle" idx="1"/>
          </p:nvPr>
        </p:nvSpPr>
        <p:spPr>
          <a:xfrm>
            <a:off x="4777925" y="413250"/>
            <a:ext cx="2023800" cy="40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roxima Nova"/>
              <a:buChar char="●"/>
            </a:pPr>
            <a:r>
              <a:rPr lang="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Herencia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Char char="●"/>
            </a:pPr>
            <a:r>
              <a:rPr lang="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Asociación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Char char="●"/>
            </a:pPr>
            <a:r>
              <a:rPr lang="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Agregación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Char char="●"/>
            </a:pPr>
            <a:r>
              <a:rPr lang="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Composición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8593825" y="3990850"/>
            <a:ext cx="344225" cy="265550"/>
          </a:xfrm>
          <a:prstGeom prst="flowChartDecision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2" name="Google Shape;232;p19"/>
          <p:cNvCxnSpPr/>
          <p:nvPr/>
        </p:nvCxnSpPr>
        <p:spPr>
          <a:xfrm rot="10800000">
            <a:off x="7349425" y="4120625"/>
            <a:ext cx="1244400" cy="6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>
            <a:spLocks noGrp="1"/>
          </p:cNvSpPr>
          <p:nvPr>
            <p:ph type="subTitle" idx="1"/>
          </p:nvPr>
        </p:nvSpPr>
        <p:spPr>
          <a:xfrm>
            <a:off x="4835400" y="939099"/>
            <a:ext cx="4045200" cy="28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lt1"/>
                </a:solidFill>
              </a:rPr>
              <a:t>Herencia</a:t>
            </a:r>
            <a:endParaRPr sz="25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●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Indica que una clase o subclase hereda atributos y métodos de otra clase (superclase)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0" y="4789500"/>
            <a:ext cx="457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Fuente: https://diagramasuml.com/diagrama-de-clases/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239" name="Google Shape;2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575" y="939100"/>
            <a:ext cx="4191150" cy="34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 txBox="1">
            <a:spLocks noGrp="1"/>
          </p:cNvSpPr>
          <p:nvPr>
            <p:ph type="subTitle" idx="1"/>
          </p:nvPr>
        </p:nvSpPr>
        <p:spPr>
          <a:xfrm>
            <a:off x="4835400" y="670775"/>
            <a:ext cx="4045200" cy="30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lt1"/>
                </a:solidFill>
              </a:rPr>
              <a:t>Asociación</a:t>
            </a:r>
            <a:endParaRPr sz="25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●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Representa una relación estructural entre dos clases.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●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Indica que los objetos de una clase están relacionados con objetos de otra clase.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75" y="1950075"/>
            <a:ext cx="3846925" cy="152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0" y="4820400"/>
            <a:ext cx="457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Fuente: https://diagramasuml.com/diagrama-de-clases/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>
            <a:spLocks noGrp="1"/>
          </p:cNvSpPr>
          <p:nvPr>
            <p:ph type="subTitle" idx="1"/>
          </p:nvPr>
        </p:nvSpPr>
        <p:spPr>
          <a:xfrm>
            <a:off x="4835400" y="617125"/>
            <a:ext cx="4045200" cy="31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lt1"/>
                </a:solidFill>
              </a:rPr>
              <a:t>Agregación</a:t>
            </a:r>
            <a:endParaRPr sz="25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●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Representa una relación donde una clase contiene o se compone de otras clases, pero estas partes pueden existir independientemente del todo.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0" y="4789500"/>
            <a:ext cx="457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Fuente: https://diagramasuml.com/diagrama-de-clases/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253" name="Google Shape;2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75" y="1104925"/>
            <a:ext cx="3752932" cy="31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>
            <a:spLocks noGrp="1"/>
          </p:cNvSpPr>
          <p:nvPr>
            <p:ph type="subTitle" idx="1"/>
          </p:nvPr>
        </p:nvSpPr>
        <p:spPr>
          <a:xfrm>
            <a:off x="4835400" y="831773"/>
            <a:ext cx="4045200" cy="31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lt1"/>
                </a:solidFill>
              </a:rPr>
              <a:t>Composición</a:t>
            </a:r>
            <a:endParaRPr sz="25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●"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composición es una forma más fuerte de agregación en la que la vida de las partes está vinculada a la vida del todo. Si el todo se elimina, las partes también se eliminan.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0" y="4789500"/>
            <a:ext cx="4572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</a:rPr>
              <a:t>Fuente: https://diagramasuml.com/diagrama-de-clases/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60" name="Google Shape;2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525" y="656138"/>
            <a:ext cx="2450200" cy="383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>
            <a:spLocks noGrp="1"/>
          </p:cNvSpPr>
          <p:nvPr>
            <p:ph type="title"/>
          </p:nvPr>
        </p:nvSpPr>
        <p:spPr>
          <a:xfrm>
            <a:off x="265500" y="91250"/>
            <a:ext cx="4045200" cy="7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Multiplicidad</a:t>
            </a:r>
            <a:endParaRPr/>
          </a:p>
        </p:txBody>
      </p:sp>
      <p:sp>
        <p:nvSpPr>
          <p:cNvPr id="266" name="Google Shape;266;p24"/>
          <p:cNvSpPr txBox="1">
            <a:spLocks noGrp="1"/>
          </p:cNvSpPr>
          <p:nvPr>
            <p:ph type="subTitle" idx="1"/>
          </p:nvPr>
        </p:nvSpPr>
        <p:spPr>
          <a:xfrm>
            <a:off x="64275" y="7242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roxima Nova"/>
              <a:buChar char="●"/>
            </a:pPr>
            <a:r>
              <a:rPr lang="es" dirty="0">
                <a:solidFill>
                  <a:srgbClr val="222222"/>
                </a:solidFill>
                <a:highlight>
                  <a:srgbClr val="FFFFFF"/>
                </a:highlight>
              </a:rPr>
              <a:t>Representa el número de elementos de una clase que participan en una relación. </a:t>
            </a:r>
            <a:endParaRPr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3429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roxima Nova"/>
              <a:buChar char="●"/>
            </a:pPr>
            <a:r>
              <a:rPr lang="es" dirty="0">
                <a:solidFill>
                  <a:srgbClr val="222222"/>
                </a:solidFill>
                <a:highlight>
                  <a:srgbClr val="FFFFFF"/>
                </a:highlight>
              </a:rPr>
              <a:t>Se puede indicar un número, un rango</a:t>
            </a:r>
            <a:endParaRPr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74295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Proxima Nova"/>
              <a:buChar char="○"/>
            </a:pPr>
            <a:r>
              <a:rPr lang="es" dirty="0">
                <a:solidFill>
                  <a:srgbClr val="222222"/>
                </a:solidFill>
                <a:highlight>
                  <a:srgbClr val="FFFFFF"/>
                </a:highlight>
              </a:rPr>
              <a:t>0..1 cero a uno . n (cant. específica)</a:t>
            </a:r>
            <a:endParaRPr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74295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Proxima Nova"/>
              <a:buChar char="○"/>
            </a:pPr>
            <a:r>
              <a:rPr lang="es" dirty="0">
                <a:solidFill>
                  <a:srgbClr val="222222"/>
                </a:solidFill>
                <a:highlight>
                  <a:srgbClr val="FFFFFF"/>
                </a:highlight>
              </a:rPr>
              <a:t>0..* cero a muchos</a:t>
            </a:r>
            <a:endParaRPr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74295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Proxima Nova"/>
              <a:buChar char="○"/>
            </a:pPr>
            <a:r>
              <a:rPr lang="es" dirty="0">
                <a:solidFill>
                  <a:srgbClr val="222222"/>
                </a:solidFill>
                <a:highlight>
                  <a:srgbClr val="FFFFFF"/>
                </a:highlight>
              </a:rPr>
              <a:t>1..* uno a muchos</a:t>
            </a:r>
            <a:endParaRPr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74295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Proxima Nova"/>
              <a:buChar char="○"/>
            </a:pPr>
            <a:r>
              <a:rPr lang="es" dirty="0">
                <a:solidFill>
                  <a:srgbClr val="222222"/>
                </a:solidFill>
                <a:highlight>
                  <a:srgbClr val="FFFFFF"/>
                </a:highlight>
              </a:rPr>
              <a:t>m..n rango específico</a:t>
            </a:r>
            <a:endParaRPr dirty="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4572000" y="4789500"/>
            <a:ext cx="457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</a:rPr>
              <a:t>Fuente: https://diagramasuml.com/diagrama-de-clases/</a:t>
            </a:r>
            <a:endParaRPr sz="900">
              <a:solidFill>
                <a:schemeClr val="lt1"/>
              </a:solidFill>
            </a:endParaRPr>
          </a:p>
        </p:txBody>
      </p:sp>
      <p:pic>
        <p:nvPicPr>
          <p:cNvPr id="268" name="Google Shape;2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1100" y="415301"/>
            <a:ext cx="373380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0" y="2571751"/>
            <a:ext cx="22860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 txBox="1"/>
          <p:nvPr/>
        </p:nvSpPr>
        <p:spPr>
          <a:xfrm>
            <a:off x="0" y="4789500"/>
            <a:ext cx="457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Fuente: https://diagramasuml.com/diagrama-de-clases/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275" name="Google Shape;2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675" y="188350"/>
            <a:ext cx="6414735" cy="44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0" y="2099800"/>
            <a:ext cx="3000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Ejemplo:</a:t>
            </a:r>
            <a:endParaRPr sz="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652</Words>
  <Application>Microsoft Office PowerPoint</Application>
  <PresentationFormat>Presentación en pantalla (16:9)</PresentationFormat>
  <Paragraphs>232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Roboto Mono</vt:lpstr>
      <vt:lpstr>Proxima Nova</vt:lpstr>
      <vt:lpstr>Calibri</vt:lpstr>
      <vt:lpstr>Arial</vt:lpstr>
      <vt:lpstr>Roboto</vt:lpstr>
      <vt:lpstr>Geometric</vt:lpstr>
      <vt:lpstr>Diagramas de Clases en UML</vt:lpstr>
      <vt:lpstr>Diagramas de Clases en UML</vt:lpstr>
      <vt:lpstr>Clases</vt:lpstr>
      <vt:lpstr>Clases</vt:lpstr>
      <vt:lpstr>Atributos</vt:lpstr>
      <vt:lpstr>Atributos</vt:lpstr>
      <vt:lpstr>Métodos</vt:lpstr>
      <vt:lpstr>Métodos</vt:lpstr>
      <vt:lpstr>Visibilidad</vt:lpstr>
      <vt:lpstr>Relaciones</vt:lpstr>
      <vt:lpstr>Presentación de PowerPoint</vt:lpstr>
      <vt:lpstr>Presentación de PowerPoint</vt:lpstr>
      <vt:lpstr>Presentación de PowerPoint</vt:lpstr>
      <vt:lpstr>Presentación de PowerPoint</vt:lpstr>
      <vt:lpstr>Multiplicidad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Diagramas de Clases en UML</dc:title>
  <cp:lastModifiedBy>Daniel Fontana</cp:lastModifiedBy>
  <cp:revision>2</cp:revision>
  <dcterms:modified xsi:type="dcterms:W3CDTF">2025-08-08T18:57:27Z</dcterms:modified>
</cp:coreProperties>
</file>