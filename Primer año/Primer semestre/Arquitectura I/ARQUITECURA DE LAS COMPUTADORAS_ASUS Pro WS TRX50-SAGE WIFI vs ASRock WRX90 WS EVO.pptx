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60" r:id="rId2"/>
    <p:sldId id="261" r:id="rId3"/>
    <p:sldId id="257" r:id="rId4"/>
    <p:sldId id="258" r:id="rId5"/>
    <p:sldId id="256" r:id="rId6"/>
    <p:sldId id="262" r:id="rId7"/>
    <p:sldId id="25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99614-9256-46C9-8CCA-5AEFF31A9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B2EA87-3E4B-4E16-B58E-4C0D4A536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A8CC9C-CF46-4C70-B4C3-9E8F8572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44983E-33CD-41DE-ADC5-6F669194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BCF01E-E663-47F7-801D-297F959C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736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A7716-F1CB-4ABE-89B8-1494436C1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7FA116-459F-4C14-AB25-6BAE327B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43030F-2601-4DE3-8097-6B5FC9F5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E18B02-F342-4D23-BB75-124C778C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F78C7C-C4B3-4FF7-88E9-A1F7E3E79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725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B6F16-8304-4581-9B4A-E8DD2AEA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3BD841-A864-40B4-91ED-6075BF4FA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4DAABB-BE06-460B-8F5F-6A42D551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6DBBDC-7E15-4D8F-9D3E-2AB1FA19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A53B71-6BC1-4D27-931D-B97D10EB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726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A5C84-C789-47E4-A4D5-E2B327E4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430933-51BB-45E9-B52D-9FEDA220C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0C50FA-54FA-494F-922F-4E857DC64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581DE1-A9ED-449C-A2C2-61487C4C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3362BC-AB43-4260-AC31-0C1C4D8D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F37DC4-1CFE-4711-8F35-2E0F5B71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048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AF014-E133-43D4-A634-1DC63F30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9B4123-DAE2-4872-A1BC-99645098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BFD215-FC34-4BBB-9B8E-1F9E8C582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1D2537-843F-4B60-BFC6-DF02DEB45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3E0FDB-3DA9-4FDD-AB7E-2DE3810EF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327E65E-7749-402F-A940-7355CA50D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B3823B-063B-4ABF-A001-F7A8F2F0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C4C001-7458-40BC-9E7B-A18878F1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795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F3A40-9BF0-4BB5-BDBC-A6C17AA5D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410B92-2CA1-4E22-8797-FE72E75F9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EE58CF-28B3-40D3-BF57-5F077CEB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9DCE03-FD7A-471A-86CB-29D3D2D3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4417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656A8E-BD40-425E-B1EF-6FAF3571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2DF419-6359-4113-A221-C2519BD6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7D8332-34A8-4818-8A6B-C523B4B3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3039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0ED87-600C-44D6-A188-D5A0AE8A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F4FB04-BF76-41F1-A73F-F4F7907FA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8FD4F1-65E0-41FE-9931-AEE118F8B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020F45-107B-49F4-8CB7-7B7F4F97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8EF67A-CD62-49F2-8F54-A711B4CD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4399D6-1B0B-43B5-A48C-3871DD9CA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892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F73C4-FA89-4005-9801-16900FCD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64D286-5D89-402A-A5DC-3743F39F9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69E27B-D8E2-4D0D-831B-DA20525E7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B05898-183F-4DAB-80BC-DB9E5F7D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116F08-D685-4066-8B26-4E5783D8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F51D0F-30D4-4C40-9D72-F617A021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089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FB12D-C9FA-42C3-899B-C87F92DB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30FD84-0E45-480A-92F2-C66C47D60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473D80-F130-46FA-A7C2-861FE350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AC534B-C7B4-4779-B7A2-983B0192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FEF2B7-6A9B-4C3E-A515-D3A1AEA8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060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542311-7294-4D2C-BD47-3CDAFE891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55D76C-7649-4C2A-92A3-F637321FE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1E18E-9EC2-4460-9DA2-1E213B14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DAE0AD-EFE3-432A-80C5-01F5C3BE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320518-7C7E-4ECE-BF98-79489CFD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491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6CB1BD-12F7-4679-8B96-960622AB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BE2CED-9117-4CD6-B7F2-8A93CF511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5F7D7A-8739-4C9C-BA46-65C55EBA3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F5CA4-78A4-4BC1-9460-64E87E9016DC}" type="datetimeFigureOut">
              <a:rPr lang="es-AR" smtClean="0"/>
              <a:t>3/6/2026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AC3333-8B19-437B-9971-9F9632419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CD4248-6B84-417D-BC7F-E8EC649E1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88213-A3E2-4CDA-A62F-6582AE0654E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238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A72D62C-3F8B-4BAA-89B0-59BA8E5DA778}"/>
              </a:ext>
            </a:extLst>
          </p:cNvPr>
          <p:cNvSpPr txBox="1">
            <a:spLocks/>
          </p:cNvSpPr>
          <p:nvPr/>
        </p:nvSpPr>
        <p:spPr>
          <a:xfrm>
            <a:off x="1095059" y="2471503"/>
            <a:ext cx="9763339" cy="788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ASUS Pro WS TRX50-SAGE WIFI VS ASRock WRX90WS EVO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D62B19-FE3F-44B2-8948-C84142F18604}"/>
              </a:ext>
            </a:extLst>
          </p:cNvPr>
          <p:cNvSpPr/>
          <p:nvPr/>
        </p:nvSpPr>
        <p:spPr>
          <a:xfrm>
            <a:off x="1521339" y="802883"/>
            <a:ext cx="5831840" cy="13512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48DFBC7-5AF7-43D6-977C-B91753B8AF5E}"/>
              </a:ext>
            </a:extLst>
          </p:cNvPr>
          <p:cNvSpPr txBox="1">
            <a:spLocks/>
          </p:cNvSpPr>
          <p:nvPr/>
        </p:nvSpPr>
        <p:spPr>
          <a:xfrm>
            <a:off x="1706880" y="996475"/>
            <a:ext cx="8190306" cy="9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" panose="020E0602020502020306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ARQUITECURA DE LAS COMPUTADORAS</a:t>
            </a:r>
          </a:p>
        </p:txBody>
      </p:sp>
      <p:pic>
        <p:nvPicPr>
          <p:cNvPr id="15" name="Picture 2" descr="Pro WS TRX50-SAGE WIFI｜Motherboards｜ASUS USA">
            <a:extLst>
              <a:ext uri="{FF2B5EF4-FFF2-40B4-BE49-F238E27FC236}">
                <a16:creationId xmlns:a16="http://schemas.microsoft.com/office/drawing/2014/main" id="{FD1873B9-4E71-4554-9B55-584860C53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515" y="3260366"/>
            <a:ext cx="3149600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ASROCK WRX90 WS EVO, Workstation, AMD WRX90, sTR5, EEB, 8 DDR5 ECC, Dual  10G LAN, SlimSAS, MCIO, 7X PCIe5 x16, 2X M.2: Buy Online at Best Price in  UAE - Amazon.ae">
            <a:extLst>
              <a:ext uri="{FF2B5EF4-FFF2-40B4-BE49-F238E27FC236}">
                <a16:creationId xmlns:a16="http://schemas.microsoft.com/office/drawing/2014/main" id="{F011D44B-7A00-49EA-9CA6-43283600F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981" y="3555006"/>
            <a:ext cx="2727205" cy="285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60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1F96E-880F-47F7-8455-80BF17E6B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809" y="250298"/>
            <a:ext cx="8102379" cy="660356"/>
          </a:xfrm>
        </p:spPr>
        <p:txBody>
          <a:bodyPr>
            <a:noAutofit/>
          </a:bodyPr>
          <a:lstStyle/>
          <a:p>
            <a:r>
              <a:rPr lang="es-ES" sz="4800" dirty="0">
                <a:latin typeface="Rockwell Condensed (Títulos)"/>
              </a:rPr>
              <a:t>Comparación placas de alto rendimiento</a:t>
            </a:r>
            <a:endParaRPr lang="es-AR" sz="4800" dirty="0">
              <a:latin typeface="Rockwell Condensed (Títulos)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77BE5F-9ACC-48E2-973C-7D8826A17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025" y="6144768"/>
            <a:ext cx="9354312" cy="558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800" dirty="0"/>
              <a:t>¿Por qué </a:t>
            </a:r>
            <a:r>
              <a:rPr lang="es-ES" sz="2800" dirty="0">
                <a:latin typeface="Cambria" panose="02040503050406030204" pitchFamily="18" charset="0"/>
                <a:ea typeface="Cambria" panose="02040503050406030204" pitchFamily="18" charset="0"/>
              </a:rPr>
              <a:t>comparar</a:t>
            </a:r>
            <a:r>
              <a:rPr lang="es-ES" sz="2800" dirty="0"/>
              <a:t> placas madre de gama profesional?</a:t>
            </a:r>
            <a:endParaRPr lang="es-AR" sz="2800" dirty="0"/>
          </a:p>
        </p:txBody>
      </p:sp>
      <p:pic>
        <p:nvPicPr>
          <p:cNvPr id="1032" name="Picture 8" descr="AMD Ryzen Threadripper™ Processors for Desktop Workstations">
            <a:extLst>
              <a:ext uri="{FF2B5EF4-FFF2-40B4-BE49-F238E27FC236}">
                <a16:creationId xmlns:a16="http://schemas.microsoft.com/office/drawing/2014/main" id="{54EED9B3-8DFC-46B5-9CF7-D039F70CE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025" y="1093788"/>
            <a:ext cx="8653949" cy="486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078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SROCK WRX90 WS EVO, Workstation, AMD WRX90, sTR5, EEB, 8 DDR5 ECC, Dual  10G LAN, SlimSAS, MCIO, 7X PCIe5 x16, 2X M.2: Buy Online at Best Price in  UAE - Amazon.ae">
            <a:extLst>
              <a:ext uri="{FF2B5EF4-FFF2-40B4-BE49-F238E27FC236}">
                <a16:creationId xmlns:a16="http://schemas.microsoft.com/office/drawing/2014/main" id="{1E5CB066-5AEC-4C56-B717-A385B1730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638" y="0"/>
            <a:ext cx="655111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569B2E4-6F7A-49DF-B11D-9396FD8467D9}"/>
              </a:ext>
            </a:extLst>
          </p:cNvPr>
          <p:cNvSpPr txBox="1"/>
          <p:nvPr/>
        </p:nvSpPr>
        <p:spPr>
          <a:xfrm>
            <a:off x="6878321" y="1122460"/>
            <a:ext cx="621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latin typeface="Rockwell Condensed (Títulos)"/>
              </a:rPr>
              <a:t>Arquitectura de Memoria</a:t>
            </a:r>
            <a:endParaRPr lang="es-AR" sz="4800" dirty="0">
              <a:latin typeface="Rockwell Condensed (Títulos)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46AFCC-C040-4DEF-90AB-3AA16BEA442D}"/>
              </a:ext>
            </a:extLst>
          </p:cNvPr>
          <p:cNvSpPr txBox="1"/>
          <p:nvPr/>
        </p:nvSpPr>
        <p:spPr>
          <a:xfrm>
            <a:off x="6612957" y="4739640"/>
            <a:ext cx="5347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2400" dirty="0">
                <a:latin typeface="Cambria" panose="02040503050406030204" pitchFamily="18" charset="0"/>
                <a:ea typeface="Cambria" panose="02040503050406030204" pitchFamily="18" charset="0"/>
              </a:rPr>
              <a:t>¿Qué ventaja da tener 8 canales?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2400" dirty="0">
                <a:latin typeface="Cambria" panose="02040503050406030204" pitchFamily="18" charset="0"/>
                <a:ea typeface="Cambria" panose="02040503050406030204" pitchFamily="18" charset="0"/>
              </a:rPr>
              <a:t>¿Cuánta RAM soporta cada una?</a:t>
            </a:r>
            <a:endParaRPr lang="es-A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9C08965-BDBE-4082-9634-E61F74CA0B15}"/>
              </a:ext>
            </a:extLst>
          </p:cNvPr>
          <p:cNvSpPr/>
          <p:nvPr/>
        </p:nvSpPr>
        <p:spPr>
          <a:xfrm>
            <a:off x="8432799" y="2722880"/>
            <a:ext cx="3527287" cy="12903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8448EF-E513-48D6-88D4-7CFF13846DB0}"/>
              </a:ext>
            </a:extLst>
          </p:cNvPr>
          <p:cNvSpPr txBox="1"/>
          <p:nvPr/>
        </p:nvSpPr>
        <p:spPr>
          <a:xfrm>
            <a:off x="8432800" y="2872937"/>
            <a:ext cx="36474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600" dirty="0">
                <a:latin typeface="Cambria" panose="02040503050406030204" pitchFamily="18" charset="0"/>
                <a:ea typeface="Cambria" panose="02040503050406030204" pitchFamily="18" charset="0"/>
              </a:rPr>
              <a:t>Imagen ilustrativa </a:t>
            </a:r>
            <a:r>
              <a:rPr lang="es-AR" sz="2600" dirty="0"/>
              <a:t>ASRock WRX90 WS EVO</a:t>
            </a:r>
            <a:endParaRPr lang="es-AR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2F9C5A6-9624-4A43-AA5B-54543B14E448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6328477" y="3319213"/>
            <a:ext cx="210432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92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ro WS TRX50-SAGE WIFI｜Motherboards｜ASUS USA">
            <a:extLst>
              <a:ext uri="{FF2B5EF4-FFF2-40B4-BE49-F238E27FC236}">
                <a16:creationId xmlns:a16="http://schemas.microsoft.com/office/drawing/2014/main" id="{261221CC-A8D9-414C-B7AE-A7A3B1E36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283" y="-389946"/>
            <a:ext cx="7637892" cy="763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5199E29-3AD3-4F7D-9CD8-A94054C47BD0}"/>
              </a:ext>
            </a:extLst>
          </p:cNvPr>
          <p:cNvSpPr txBox="1"/>
          <p:nvPr/>
        </p:nvSpPr>
        <p:spPr>
          <a:xfrm>
            <a:off x="6370320" y="1132620"/>
            <a:ext cx="6390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i="1" dirty="0">
                <a:latin typeface="Rockwell Condensed (Títulos)"/>
              </a:rPr>
              <a:t>Capacidad de Expansión PCIe 5.0</a:t>
            </a:r>
            <a:r>
              <a:rPr lang="es-ES" sz="4000" dirty="0">
                <a:latin typeface="Rockwell Condensed (Títulos)"/>
              </a:rPr>
              <a:t> </a:t>
            </a:r>
            <a:endParaRPr lang="es-AR" sz="4000" dirty="0">
              <a:latin typeface="Rockwell Condensed (Títulos)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97F7C997-7E0C-4B31-8916-A88153532841}"/>
              </a:ext>
            </a:extLst>
          </p:cNvPr>
          <p:cNvCxnSpPr>
            <a:cxnSpLocks/>
          </p:cNvCxnSpPr>
          <p:nvPr/>
        </p:nvCxnSpPr>
        <p:spPr>
          <a:xfrm flipH="1">
            <a:off x="6096001" y="3248093"/>
            <a:ext cx="173735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C0926BC-D5B8-439E-87BF-FD6EC75DE18A}"/>
              </a:ext>
            </a:extLst>
          </p:cNvPr>
          <p:cNvSpPr/>
          <p:nvPr/>
        </p:nvSpPr>
        <p:spPr>
          <a:xfrm>
            <a:off x="7833360" y="2602933"/>
            <a:ext cx="4094479" cy="12903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C3C17A4-7D88-4282-9003-9BAD2177D062}"/>
              </a:ext>
            </a:extLst>
          </p:cNvPr>
          <p:cNvSpPr txBox="1"/>
          <p:nvPr/>
        </p:nvSpPr>
        <p:spPr>
          <a:xfrm>
            <a:off x="7833360" y="2786428"/>
            <a:ext cx="4734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  <a:ea typeface="Cambria" panose="02040503050406030204" pitchFamily="18" charset="0"/>
              </a:rPr>
              <a:t>Imagen ilustrativa</a:t>
            </a:r>
          </a:p>
          <a:p>
            <a:r>
              <a:rPr lang="en-US" sz="2400" dirty="0"/>
              <a:t>ASUS Pro WS TRX50-SAGE WIFI</a:t>
            </a:r>
            <a:endParaRPr lang="es-A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8224AF-B3A9-4C8B-967F-0B43C0D0BEC4}"/>
              </a:ext>
            </a:extLst>
          </p:cNvPr>
          <p:cNvSpPr txBox="1"/>
          <p:nvPr/>
        </p:nvSpPr>
        <p:spPr>
          <a:xfrm>
            <a:off x="6582476" y="5247712"/>
            <a:ext cx="572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¿Cuántas GPUs puede manejar cada placa?</a:t>
            </a:r>
            <a:endParaRPr lang="es-A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137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873F5-FC7D-408C-B49E-AE1B65D13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7D792E-7F54-423C-826E-724EF9E1C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026" name="Picture 2" descr="Arquitectura de computadoras: herramientas interesantes">
            <a:extLst>
              <a:ext uri="{FF2B5EF4-FFF2-40B4-BE49-F238E27FC236}">
                <a16:creationId xmlns:a16="http://schemas.microsoft.com/office/drawing/2014/main" id="{BD9DBDA5-96EF-4103-A3A8-81E112FF1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0F635CB-A18E-4B7F-80BC-F5FC4E41BE81}"/>
              </a:ext>
            </a:extLst>
          </p:cNvPr>
          <p:cNvSpPr/>
          <p:nvPr/>
        </p:nvSpPr>
        <p:spPr>
          <a:xfrm>
            <a:off x="0" y="2047240"/>
            <a:ext cx="12192000" cy="27635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7200" dirty="0">
                <a:latin typeface="Rockwell Condensed (Títulos)"/>
              </a:rPr>
              <a:t>IPMI y BMC</a:t>
            </a:r>
          </a:p>
          <a:p>
            <a:pPr algn="ctr"/>
            <a:r>
              <a:rPr lang="es-ES" sz="3200" dirty="0">
                <a:latin typeface="Cambria" panose="02040503050406030204" pitchFamily="18" charset="0"/>
                <a:ea typeface="Cambria" panose="02040503050406030204" pitchFamily="18" charset="0"/>
              </a:rPr>
              <a:t>¿Que soporte incluye cada una?</a:t>
            </a:r>
            <a:endParaRPr lang="es-A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63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20744-7F26-4325-B620-4E7178221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1076AD-A721-478E-895E-37B4FD108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6146" name="Picture 2" descr="100+] Fondos de fotos de Placa madre | Wallpapers.com">
            <a:extLst>
              <a:ext uri="{FF2B5EF4-FFF2-40B4-BE49-F238E27FC236}">
                <a16:creationId xmlns:a16="http://schemas.microsoft.com/office/drawing/2014/main" id="{2FDE9B1D-E3F0-41A0-9729-9E020EA57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1C3AC7A-0F85-426E-831D-B4875480B3D6}"/>
              </a:ext>
            </a:extLst>
          </p:cNvPr>
          <p:cNvSpPr/>
          <p:nvPr/>
        </p:nvSpPr>
        <p:spPr>
          <a:xfrm>
            <a:off x="0" y="2199640"/>
            <a:ext cx="12192000" cy="24587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dirty="0">
                <a:latin typeface="Rockwell Condensed (Títulos)"/>
              </a:rPr>
              <a:t>Diferencias en conectividad</a:t>
            </a:r>
          </a:p>
          <a:p>
            <a:pPr algn="ctr"/>
            <a:r>
              <a:rPr lang="es-ES" sz="3600" dirty="0"/>
              <a:t>¿Qué diferencia hay en conectividad inalámbrica entre ambas?</a:t>
            </a:r>
            <a:endParaRPr lang="es-A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0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DD262924-2F98-4C97-A98B-18DB2A8FC4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6" r="12230"/>
          <a:stretch/>
        </p:blipFill>
        <p:spPr bwMode="auto">
          <a:xfrm>
            <a:off x="0" y="345440"/>
            <a:ext cx="6964175" cy="616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DEAFC95-F85B-4D26-9956-6D7B33AEB6B9}"/>
              </a:ext>
            </a:extLst>
          </p:cNvPr>
          <p:cNvSpPr txBox="1"/>
          <p:nvPr/>
        </p:nvSpPr>
        <p:spPr>
          <a:xfrm>
            <a:off x="7721601" y="1396781"/>
            <a:ext cx="4124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i="1" dirty="0">
                <a:latin typeface="Rockwell Condensed (Títulos)"/>
              </a:rPr>
              <a:t>Calidad constructiva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8493EC-29B0-44DD-ADCA-69D932F9D096}"/>
              </a:ext>
            </a:extLst>
          </p:cNvPr>
          <p:cNvSpPr txBox="1"/>
          <p:nvPr/>
        </p:nvSpPr>
        <p:spPr>
          <a:xfrm>
            <a:off x="7267492" y="4262192"/>
            <a:ext cx="4828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Cambria" panose="02040503050406030204" pitchFamily="18" charset="0"/>
                <a:ea typeface="Cambria" panose="02040503050406030204" pitchFamily="18" charset="0"/>
              </a:rPr>
              <a:t>¿</a:t>
            </a:r>
            <a:r>
              <a:rPr lang="es-ES" sz="2400" dirty="0">
                <a:latin typeface="Cambria" panose="02040503050406030204" pitchFamily="18" charset="0"/>
                <a:ea typeface="Cambria" panose="02040503050406030204" pitchFamily="18" charset="0"/>
              </a:rPr>
              <a:t>Qué diferencia hay entre ambas?</a:t>
            </a:r>
            <a:endParaRPr lang="es-A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Qué es un SSD PCIe Gen5? - Kingston Technology">
            <a:extLst>
              <a:ext uri="{FF2B5EF4-FFF2-40B4-BE49-F238E27FC236}">
                <a16:creationId xmlns:a16="http://schemas.microsoft.com/office/drawing/2014/main" id="{813DDA7D-9694-4EEA-8656-745C524A8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1219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DF66459-27AB-4E4D-B0D3-B29A2819163F}"/>
              </a:ext>
            </a:extLst>
          </p:cNvPr>
          <p:cNvSpPr txBox="1"/>
          <p:nvPr/>
        </p:nvSpPr>
        <p:spPr>
          <a:xfrm>
            <a:off x="3145205" y="297341"/>
            <a:ext cx="5901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latin typeface="Rockwell Condensed (Títulos)"/>
              </a:rPr>
              <a:t>Almacenamiento de Alta Velocidad</a:t>
            </a:r>
            <a:endParaRPr lang="es-AR" sz="4000" dirty="0">
              <a:latin typeface="Rockwell Condensed (Títulos)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213C5F-32D2-4577-8D1C-18BF614C46D0}"/>
              </a:ext>
            </a:extLst>
          </p:cNvPr>
          <p:cNvSpPr txBox="1"/>
          <p:nvPr/>
        </p:nvSpPr>
        <p:spPr>
          <a:xfrm>
            <a:off x="3328085" y="5975884"/>
            <a:ext cx="5535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¿Cuántos slots ofrece cada una?</a:t>
            </a:r>
            <a:endParaRPr lang="es-A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37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48C04-D9B4-4A8F-87D8-90629318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9A69BE-997C-4680-8B6E-720CE164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8196" name="Picture 4" descr="Fondo del circuito de la motherboard: video de stock (totalmente libre de  regalías) 1010011586 | Shutterstock">
            <a:extLst>
              <a:ext uri="{FF2B5EF4-FFF2-40B4-BE49-F238E27FC236}">
                <a16:creationId xmlns:a16="http://schemas.microsoft.com/office/drawing/2014/main" id="{90409D81-8604-4B98-9B3D-30114BBA5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6A0118A2-C01D-4FD9-BBF9-061E596C27DC}"/>
              </a:ext>
            </a:extLst>
          </p:cNvPr>
          <p:cNvSpPr/>
          <p:nvPr/>
        </p:nvSpPr>
        <p:spPr>
          <a:xfrm>
            <a:off x="-2186940" y="-655320"/>
            <a:ext cx="7571740" cy="8168639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dirty="0">
                <a:latin typeface="Rockwell Condensed (Títulos)"/>
              </a:rPr>
              <a:t>     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FD6FBE-8EB7-4BE2-A362-A3844236A6E8}"/>
              </a:ext>
            </a:extLst>
          </p:cNvPr>
          <p:cNvSpPr txBox="1"/>
          <p:nvPr/>
        </p:nvSpPr>
        <p:spPr>
          <a:xfrm>
            <a:off x="1010318" y="2074249"/>
            <a:ext cx="41249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dirty="0">
                <a:solidFill>
                  <a:schemeClr val="bg1"/>
                </a:solidFill>
                <a:latin typeface="Rockwell Condensed (Títulos)"/>
              </a:rPr>
              <a:t>Buses Internos y Paralelismo de E/S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755D6C7-1363-48AE-B77A-DB0F022F6C01}"/>
              </a:ext>
            </a:extLst>
          </p:cNvPr>
          <p:cNvSpPr txBox="1"/>
          <p:nvPr/>
        </p:nvSpPr>
        <p:spPr>
          <a:xfrm>
            <a:off x="760797" y="4064051"/>
            <a:ext cx="46240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¿Cómo afecta el número de líneas PCIe al rendimiento real?</a:t>
            </a:r>
            <a:endParaRPr lang="es-AR" sz="3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697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staciones de trabajo para profesionales | NVIDIA RTX PRO">
            <a:extLst>
              <a:ext uri="{FF2B5EF4-FFF2-40B4-BE49-F238E27FC236}">
                <a16:creationId xmlns:a16="http://schemas.microsoft.com/office/drawing/2014/main" id="{20676BE0-3D1A-4D38-ACE2-754149D83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245" y="1253331"/>
            <a:ext cx="774697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5B2170B-4AE4-43DC-8F55-21F3B14BB84C}"/>
              </a:ext>
            </a:extLst>
          </p:cNvPr>
          <p:cNvSpPr txBox="1"/>
          <p:nvPr/>
        </p:nvSpPr>
        <p:spPr>
          <a:xfrm>
            <a:off x="4344656" y="163355"/>
            <a:ext cx="3232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>
                <a:latin typeface="Rockwell Condensed (Títulos)"/>
              </a:rPr>
              <a:t>Conclusiones</a:t>
            </a:r>
            <a:endParaRPr lang="es-AR" sz="4000" dirty="0">
              <a:latin typeface="Rockwell Condensed (Títulos)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CC21C15-6F15-46D2-8BEA-077A6B2B26C2}"/>
              </a:ext>
            </a:extLst>
          </p:cNvPr>
          <p:cNvSpPr txBox="1"/>
          <p:nvPr/>
        </p:nvSpPr>
        <p:spPr>
          <a:xfrm>
            <a:off x="4344656" y="5740538"/>
            <a:ext cx="44119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latin typeface="Cambria" panose="02040503050406030204" pitchFamily="18" charset="0"/>
                <a:ea typeface="Cambria" panose="02040503050406030204" pitchFamily="18" charset="0"/>
              </a:rPr>
              <a:t>¿TRX50 o WRX90?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latin typeface="Cambria" panose="02040503050406030204" pitchFamily="18" charset="0"/>
                <a:ea typeface="Cambria" panose="02040503050406030204" pitchFamily="18" charset="0"/>
              </a:rPr>
              <a:t>¿Para qué sirve cada una?</a:t>
            </a:r>
            <a:endParaRPr lang="es-A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388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4">
      <a:dk1>
        <a:sysClr val="windowText" lastClr="000000"/>
      </a:dk1>
      <a:lt1>
        <a:srgbClr val="F5F5DC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149</Words>
  <Application>Microsoft Office PowerPoint</Application>
  <PresentationFormat>Panorámica</PresentationFormat>
  <Paragraphs>26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Berlin Sans FB</vt:lpstr>
      <vt:lpstr>Calibri</vt:lpstr>
      <vt:lpstr>Calibri Light</vt:lpstr>
      <vt:lpstr>Cambria</vt:lpstr>
      <vt:lpstr>Rockwell Condensed (Títulos)</vt:lpstr>
      <vt:lpstr>Tema de Office</vt:lpstr>
      <vt:lpstr>Presentación de PowerPoint</vt:lpstr>
      <vt:lpstr>Comparación placas de alto rendimiento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ARQUITECURA DE LAS COMPUTADORAS</dc:title>
  <dc:creator>danielgarcia788 juanmaydan</dc:creator>
  <cp:lastModifiedBy>danielgarcia788 juanmaydan</cp:lastModifiedBy>
  <cp:revision>15</cp:revision>
  <dcterms:created xsi:type="dcterms:W3CDTF">2026-06-03T00:47:04Z</dcterms:created>
  <dcterms:modified xsi:type="dcterms:W3CDTF">2026-06-03T13:08:44Z</dcterms:modified>
</cp:coreProperties>
</file>